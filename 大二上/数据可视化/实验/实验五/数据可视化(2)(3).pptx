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9" r:id="rId2"/>
    <p:sldId id="261" r:id="rId3"/>
    <p:sldId id="260" r:id="rId4"/>
    <p:sldId id="262" r:id="rId5"/>
    <p:sldId id="263" r:id="rId6"/>
    <p:sldId id="264" r:id="rId7"/>
    <p:sldId id="265" r:id="rId8"/>
    <p:sldId id="268" r:id="rId9"/>
    <p:sldId id="266" r:id="rId10"/>
    <p:sldId id="267"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8B1AD185-2461-43D8-B710-E29C1FADFEA6}">
          <p14:sldIdLst>
            <p14:sldId id="259"/>
            <p14:sldId id="261"/>
            <p14:sldId id="260"/>
            <p14:sldId id="262"/>
          </p14:sldIdLst>
        </p14:section>
        <p14:section name="无标题节" id="{0650FF8D-6688-40FC-9CB7-25031D87C96F}">
          <p14:sldIdLst>
            <p14:sldId id="263"/>
            <p14:sldId id="264"/>
            <p14:sldId id="265"/>
            <p14:sldId id="268"/>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69" autoAdjust="0"/>
    <p:restoredTop sz="91327" autoAdjust="0"/>
  </p:normalViewPr>
  <p:slideViewPr>
    <p:cSldViewPr snapToGrid="0">
      <p:cViewPr varScale="1">
        <p:scale>
          <a:sx n="100" d="100"/>
          <a:sy n="100" d="100"/>
        </p:scale>
        <p:origin x="252" y="72"/>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F460A6-FFA2-4E8F-8AA5-B4C0BA58F197}" type="datetimeFigureOut">
              <a:rPr lang="zh-CN" altLang="en-US" smtClean="0"/>
              <a:t>2024/12/26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2D571F-AC6D-4D55-BCE4-B2024B490228}" type="slidenum">
              <a:rPr lang="zh-CN" altLang="en-US" smtClean="0"/>
              <a:t>‹#›</a:t>
            </a:fld>
            <a:endParaRPr lang="zh-CN" altLang="en-US"/>
          </a:p>
        </p:txBody>
      </p:sp>
    </p:spTree>
    <p:extLst>
      <p:ext uri="{BB962C8B-B14F-4D97-AF65-F5344CB8AC3E}">
        <p14:creationId xmlns:p14="http://schemas.microsoft.com/office/powerpoint/2010/main" val="5594821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2D571F-AC6D-4D55-BCE4-B2024B490228}" type="slidenum">
              <a:rPr lang="zh-CN" altLang="en-US" smtClean="0"/>
              <a:t>1</a:t>
            </a:fld>
            <a:endParaRPr lang="zh-CN" altLang="en-US"/>
          </a:p>
        </p:txBody>
      </p:sp>
    </p:spTree>
    <p:extLst>
      <p:ext uri="{BB962C8B-B14F-4D97-AF65-F5344CB8AC3E}">
        <p14:creationId xmlns:p14="http://schemas.microsoft.com/office/powerpoint/2010/main" val="2882597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2D571F-AC6D-4D55-BCE4-B2024B490228}" type="slidenum">
              <a:rPr lang="zh-CN" altLang="en-US" smtClean="0"/>
              <a:t>3</a:t>
            </a:fld>
            <a:endParaRPr lang="zh-CN" altLang="en-US"/>
          </a:p>
        </p:txBody>
      </p:sp>
    </p:spTree>
    <p:extLst>
      <p:ext uri="{BB962C8B-B14F-4D97-AF65-F5344CB8AC3E}">
        <p14:creationId xmlns:p14="http://schemas.microsoft.com/office/powerpoint/2010/main" val="9614000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2D571F-AC6D-4D55-BCE4-B2024B490228}" type="slidenum">
              <a:rPr lang="zh-CN" altLang="en-US" smtClean="0"/>
              <a:t>5</a:t>
            </a:fld>
            <a:endParaRPr lang="zh-CN" altLang="en-US"/>
          </a:p>
        </p:txBody>
      </p:sp>
    </p:spTree>
    <p:extLst>
      <p:ext uri="{BB962C8B-B14F-4D97-AF65-F5344CB8AC3E}">
        <p14:creationId xmlns:p14="http://schemas.microsoft.com/office/powerpoint/2010/main" val="698550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图一是未筛选，单选模式</a:t>
            </a:r>
            <a:endParaRPr lang="en-US" altLang="zh-CN" dirty="0"/>
          </a:p>
          <a:p>
            <a:r>
              <a:rPr lang="zh-CN" altLang="en-US" dirty="0"/>
              <a:t>图二是筛选，多选模式</a:t>
            </a:r>
          </a:p>
        </p:txBody>
      </p:sp>
      <p:sp>
        <p:nvSpPr>
          <p:cNvPr id="4" name="灯片编号占位符 3"/>
          <p:cNvSpPr>
            <a:spLocks noGrp="1"/>
          </p:cNvSpPr>
          <p:nvPr>
            <p:ph type="sldNum" sz="quarter" idx="5"/>
          </p:nvPr>
        </p:nvSpPr>
        <p:spPr/>
        <p:txBody>
          <a:bodyPr/>
          <a:lstStyle/>
          <a:p>
            <a:fld id="{872D571F-AC6D-4D55-BCE4-B2024B490228}" type="slidenum">
              <a:rPr lang="zh-CN" altLang="en-US" smtClean="0"/>
              <a:t>6</a:t>
            </a:fld>
            <a:endParaRPr lang="zh-CN" altLang="en-US"/>
          </a:p>
        </p:txBody>
      </p:sp>
    </p:spTree>
    <p:extLst>
      <p:ext uri="{BB962C8B-B14F-4D97-AF65-F5344CB8AC3E}">
        <p14:creationId xmlns:p14="http://schemas.microsoft.com/office/powerpoint/2010/main" val="8844291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72D571F-AC6D-4D55-BCE4-B2024B490228}" type="slidenum">
              <a:rPr lang="zh-CN" altLang="en-US" smtClean="0"/>
              <a:t>7</a:t>
            </a:fld>
            <a:endParaRPr lang="zh-CN" altLang="en-US"/>
          </a:p>
        </p:txBody>
      </p:sp>
    </p:spTree>
    <p:extLst>
      <p:ext uri="{BB962C8B-B14F-4D97-AF65-F5344CB8AC3E}">
        <p14:creationId xmlns:p14="http://schemas.microsoft.com/office/powerpoint/2010/main" val="1090881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我们选欧洲幸福度高的国家，可以随意选，然后跳转下图</a:t>
            </a:r>
            <a:endParaRPr lang="en-US" altLang="zh-CN" dirty="0"/>
          </a:p>
          <a:p>
            <a:r>
              <a:rPr lang="en-US" altLang="zh-CN" dirty="0"/>
              <a:t>2.</a:t>
            </a:r>
            <a:r>
              <a:rPr lang="zh-CN" altLang="en-US" dirty="0"/>
              <a:t>在欧洲国家里面，我要</a:t>
            </a:r>
            <a:r>
              <a:rPr lang="en-US" altLang="zh-CN" dirty="0"/>
              <a:t>happiness</a:t>
            </a:r>
            <a:r>
              <a:rPr lang="zh-CN" altLang="en-US" dirty="0"/>
              <a:t>高且</a:t>
            </a:r>
            <a:r>
              <a:rPr lang="en-US" altLang="zh-CN" dirty="0"/>
              <a:t>health</a:t>
            </a:r>
            <a:r>
              <a:rPr lang="zh-CN" altLang="en-US" dirty="0"/>
              <a:t>和</a:t>
            </a:r>
            <a:r>
              <a:rPr lang="en-US" altLang="zh-CN" dirty="0" err="1"/>
              <a:t>gdp</a:t>
            </a:r>
            <a:r>
              <a:rPr lang="zh-CN" altLang="en-US" dirty="0"/>
              <a:t>高的</a:t>
            </a:r>
            <a:endParaRPr lang="en-US" altLang="zh-CN" dirty="0"/>
          </a:p>
          <a:p>
            <a:r>
              <a:rPr lang="en-US" altLang="zh-CN" dirty="0"/>
              <a:t>3.</a:t>
            </a:r>
            <a:r>
              <a:rPr lang="zh-CN" altLang="en-US" dirty="0"/>
              <a:t>我发现</a:t>
            </a:r>
            <a:r>
              <a:rPr lang="en-US" altLang="zh-CN" dirty="0" err="1"/>
              <a:t>finlandhappiness</a:t>
            </a:r>
            <a:r>
              <a:rPr lang="zh-CN" altLang="en-US" dirty="0"/>
              <a:t>高但是</a:t>
            </a:r>
            <a:r>
              <a:rPr lang="en-US" altLang="zh-CN" dirty="0"/>
              <a:t>money</a:t>
            </a:r>
            <a:r>
              <a:rPr lang="zh-CN" altLang="en-US" dirty="0"/>
              <a:t>不合心意，我们不选，往下看，</a:t>
            </a:r>
            <a:r>
              <a:rPr lang="en-US" altLang="zh-CN" dirty="0"/>
              <a:t>Luxembourg</a:t>
            </a:r>
            <a:r>
              <a:rPr lang="zh-CN" altLang="en-US" dirty="0"/>
              <a:t>，</a:t>
            </a:r>
            <a:r>
              <a:rPr lang="en-US" altLang="zh-CN" dirty="0"/>
              <a:t>Switzerland</a:t>
            </a:r>
            <a:r>
              <a:rPr lang="zh-CN" altLang="en-US" dirty="0"/>
              <a:t>，</a:t>
            </a:r>
            <a:r>
              <a:rPr lang="en-US" altLang="zh-CN" dirty="0"/>
              <a:t>Norway</a:t>
            </a:r>
            <a:r>
              <a:rPr lang="zh-CN" altLang="en-US" dirty="0"/>
              <a:t>，</a:t>
            </a:r>
            <a:r>
              <a:rPr lang="en-US" altLang="zh-CN" dirty="0"/>
              <a:t>happiness</a:t>
            </a:r>
            <a:r>
              <a:rPr lang="zh-CN" altLang="en-US" dirty="0"/>
              <a:t>都不错，而且</a:t>
            </a:r>
            <a:r>
              <a:rPr lang="en-US" altLang="zh-CN" dirty="0"/>
              <a:t>Luxembourg</a:t>
            </a:r>
            <a:r>
              <a:rPr lang="zh-CN" altLang="en-US" dirty="0"/>
              <a:t>小钱钱很多，</a:t>
            </a:r>
            <a:endParaRPr lang="en-US" altLang="zh-CN" dirty="0"/>
          </a:p>
          <a:p>
            <a:r>
              <a:rPr lang="en-US" altLang="zh-CN" dirty="0"/>
              <a:t>4.</a:t>
            </a:r>
            <a:r>
              <a:rPr lang="zh-CN" altLang="en-US" dirty="0"/>
              <a:t>我们跳转下一图，发现</a:t>
            </a:r>
            <a:r>
              <a:rPr lang="en-US" altLang="zh-CN" dirty="0"/>
              <a:t>Switzerland</a:t>
            </a:r>
            <a:r>
              <a:rPr lang="zh-CN" altLang="en-US" dirty="0"/>
              <a:t>，</a:t>
            </a:r>
            <a:r>
              <a:rPr lang="en-US" altLang="zh-CN" dirty="0"/>
              <a:t>Norway</a:t>
            </a:r>
            <a:r>
              <a:rPr lang="zh-CN" altLang="en-US" dirty="0"/>
              <a:t>在稳中发生了下降，而</a:t>
            </a:r>
            <a:r>
              <a:rPr lang="en-US" altLang="zh-CN" dirty="0"/>
              <a:t>Luxembourg</a:t>
            </a:r>
            <a:r>
              <a:rPr lang="zh-CN" altLang="en-US" dirty="0"/>
              <a:t>一直向好的方向发展，未来可期，所以我想求学去</a:t>
            </a:r>
            <a:r>
              <a:rPr lang="en-US" altLang="zh-CN" dirty="0"/>
              <a:t>Luxembourg</a:t>
            </a:r>
            <a:r>
              <a:rPr lang="zh-CN" altLang="en-US"/>
              <a:t>寻找更多机会</a:t>
            </a:r>
            <a:endParaRPr lang="zh-CN" altLang="en-US" dirty="0"/>
          </a:p>
        </p:txBody>
      </p:sp>
      <p:sp>
        <p:nvSpPr>
          <p:cNvPr id="4" name="灯片编号占位符 3"/>
          <p:cNvSpPr>
            <a:spLocks noGrp="1"/>
          </p:cNvSpPr>
          <p:nvPr>
            <p:ph type="sldNum" sz="quarter" idx="5"/>
          </p:nvPr>
        </p:nvSpPr>
        <p:spPr/>
        <p:txBody>
          <a:bodyPr/>
          <a:lstStyle/>
          <a:p>
            <a:fld id="{872D571F-AC6D-4D55-BCE4-B2024B490228}" type="slidenum">
              <a:rPr lang="zh-CN" altLang="en-US" smtClean="0"/>
              <a:t>10</a:t>
            </a:fld>
            <a:endParaRPr lang="zh-CN" altLang="en-US"/>
          </a:p>
        </p:txBody>
      </p:sp>
    </p:spTree>
    <p:extLst>
      <p:ext uri="{BB962C8B-B14F-4D97-AF65-F5344CB8AC3E}">
        <p14:creationId xmlns:p14="http://schemas.microsoft.com/office/powerpoint/2010/main" val="1517920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B440A7-3840-4ED5-8330-5929CC69FA9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2A184C5-634B-4FDB-ABAE-771B8F192A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25B1585-D488-03B0-1000-3751E674F7E3}"/>
              </a:ext>
            </a:extLst>
          </p:cNvPr>
          <p:cNvSpPr>
            <a:spLocks noGrp="1"/>
          </p:cNvSpPr>
          <p:nvPr>
            <p:ph type="dt" sz="half" idx="10"/>
          </p:nvPr>
        </p:nvSpPr>
        <p:spPr/>
        <p:txBody>
          <a:bodyPr/>
          <a:lstStyle/>
          <a:p>
            <a:fld id="{3F2E8D1A-F607-41F8-9F25-EFC731E7E7F5}" type="datetimeFigureOut">
              <a:rPr lang="zh-CN" altLang="en-US" smtClean="0"/>
              <a:t>2024/12/26</a:t>
            </a:fld>
            <a:endParaRPr lang="zh-CN" altLang="en-US"/>
          </a:p>
        </p:txBody>
      </p:sp>
      <p:sp>
        <p:nvSpPr>
          <p:cNvPr id="5" name="页脚占位符 4">
            <a:extLst>
              <a:ext uri="{FF2B5EF4-FFF2-40B4-BE49-F238E27FC236}">
                <a16:creationId xmlns:a16="http://schemas.microsoft.com/office/drawing/2014/main" id="{FDBE0A4E-C0E8-178B-BC7C-B5EF1E84AB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BE569F6-CD95-5625-1944-4AD6CA6291EB}"/>
              </a:ext>
            </a:extLst>
          </p:cNvPr>
          <p:cNvSpPr>
            <a:spLocks noGrp="1"/>
          </p:cNvSpPr>
          <p:nvPr>
            <p:ph type="sldNum" sz="quarter" idx="12"/>
          </p:nvPr>
        </p:nvSpPr>
        <p:spPr/>
        <p:txBody>
          <a:bodyPr/>
          <a:lstStyle/>
          <a:p>
            <a:fld id="{FDC72544-AB45-4241-92F4-AC183AA6F757}" type="slidenum">
              <a:rPr lang="zh-CN" altLang="en-US" smtClean="0"/>
              <a:t>‹#›</a:t>
            </a:fld>
            <a:endParaRPr lang="zh-CN" altLang="en-US"/>
          </a:p>
        </p:txBody>
      </p:sp>
    </p:spTree>
    <p:extLst>
      <p:ext uri="{BB962C8B-B14F-4D97-AF65-F5344CB8AC3E}">
        <p14:creationId xmlns:p14="http://schemas.microsoft.com/office/powerpoint/2010/main" val="40885580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15D6E0-0B2E-10ED-7FCC-269E2E1E08A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ADCA912-4E3B-5E3F-0999-35A2B16615F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8A0CF4C-F5C1-BD02-4558-D39894D436F0}"/>
              </a:ext>
            </a:extLst>
          </p:cNvPr>
          <p:cNvSpPr>
            <a:spLocks noGrp="1"/>
          </p:cNvSpPr>
          <p:nvPr>
            <p:ph type="dt" sz="half" idx="10"/>
          </p:nvPr>
        </p:nvSpPr>
        <p:spPr/>
        <p:txBody>
          <a:bodyPr/>
          <a:lstStyle/>
          <a:p>
            <a:fld id="{3F2E8D1A-F607-41F8-9F25-EFC731E7E7F5}" type="datetimeFigureOut">
              <a:rPr lang="zh-CN" altLang="en-US" smtClean="0"/>
              <a:t>2024/12/26</a:t>
            </a:fld>
            <a:endParaRPr lang="zh-CN" altLang="en-US"/>
          </a:p>
        </p:txBody>
      </p:sp>
      <p:sp>
        <p:nvSpPr>
          <p:cNvPr id="5" name="页脚占位符 4">
            <a:extLst>
              <a:ext uri="{FF2B5EF4-FFF2-40B4-BE49-F238E27FC236}">
                <a16:creationId xmlns:a16="http://schemas.microsoft.com/office/drawing/2014/main" id="{E24807FF-6FB2-1CD8-603F-95922B4F015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884B7BD-C62E-ABA3-8E67-83C2202E3371}"/>
              </a:ext>
            </a:extLst>
          </p:cNvPr>
          <p:cNvSpPr>
            <a:spLocks noGrp="1"/>
          </p:cNvSpPr>
          <p:nvPr>
            <p:ph type="sldNum" sz="quarter" idx="12"/>
          </p:nvPr>
        </p:nvSpPr>
        <p:spPr/>
        <p:txBody>
          <a:bodyPr/>
          <a:lstStyle/>
          <a:p>
            <a:fld id="{FDC72544-AB45-4241-92F4-AC183AA6F757}" type="slidenum">
              <a:rPr lang="zh-CN" altLang="en-US" smtClean="0"/>
              <a:t>‹#›</a:t>
            </a:fld>
            <a:endParaRPr lang="zh-CN" altLang="en-US"/>
          </a:p>
        </p:txBody>
      </p:sp>
    </p:spTree>
    <p:extLst>
      <p:ext uri="{BB962C8B-B14F-4D97-AF65-F5344CB8AC3E}">
        <p14:creationId xmlns:p14="http://schemas.microsoft.com/office/powerpoint/2010/main" val="1426639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2D83D0-A3C8-0B87-30F5-A0725E38823B}"/>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D2B0DB7-3C5A-84F2-2F1A-837024D917E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80DB9E7-785E-3DAF-4C71-57E92C4E4267}"/>
              </a:ext>
            </a:extLst>
          </p:cNvPr>
          <p:cNvSpPr>
            <a:spLocks noGrp="1"/>
          </p:cNvSpPr>
          <p:nvPr>
            <p:ph type="dt" sz="half" idx="10"/>
          </p:nvPr>
        </p:nvSpPr>
        <p:spPr/>
        <p:txBody>
          <a:bodyPr/>
          <a:lstStyle/>
          <a:p>
            <a:fld id="{3F2E8D1A-F607-41F8-9F25-EFC731E7E7F5}" type="datetimeFigureOut">
              <a:rPr lang="zh-CN" altLang="en-US" smtClean="0"/>
              <a:t>2024/12/26</a:t>
            </a:fld>
            <a:endParaRPr lang="zh-CN" altLang="en-US"/>
          </a:p>
        </p:txBody>
      </p:sp>
      <p:sp>
        <p:nvSpPr>
          <p:cNvPr id="5" name="页脚占位符 4">
            <a:extLst>
              <a:ext uri="{FF2B5EF4-FFF2-40B4-BE49-F238E27FC236}">
                <a16:creationId xmlns:a16="http://schemas.microsoft.com/office/drawing/2014/main" id="{C968F690-8B15-38B4-6EFE-0D3825F68C5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CE9337D-E44C-F0B1-12E9-208F126642C1}"/>
              </a:ext>
            </a:extLst>
          </p:cNvPr>
          <p:cNvSpPr>
            <a:spLocks noGrp="1"/>
          </p:cNvSpPr>
          <p:nvPr>
            <p:ph type="sldNum" sz="quarter" idx="12"/>
          </p:nvPr>
        </p:nvSpPr>
        <p:spPr/>
        <p:txBody>
          <a:bodyPr/>
          <a:lstStyle/>
          <a:p>
            <a:fld id="{FDC72544-AB45-4241-92F4-AC183AA6F757}" type="slidenum">
              <a:rPr lang="zh-CN" altLang="en-US" smtClean="0"/>
              <a:t>‹#›</a:t>
            </a:fld>
            <a:endParaRPr lang="zh-CN" altLang="en-US"/>
          </a:p>
        </p:txBody>
      </p:sp>
    </p:spTree>
    <p:extLst>
      <p:ext uri="{BB962C8B-B14F-4D97-AF65-F5344CB8AC3E}">
        <p14:creationId xmlns:p14="http://schemas.microsoft.com/office/powerpoint/2010/main" val="1959506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8322DA-C3CE-CFD3-F795-3A897F79196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0D1F814-0C08-75A1-BACC-D956645C399F}"/>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078F5BD-A74B-9C93-5183-5C8945EA164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EE6582E-16CE-9AFC-277D-4E270C8A1124}"/>
              </a:ext>
            </a:extLst>
          </p:cNvPr>
          <p:cNvSpPr>
            <a:spLocks noGrp="1"/>
          </p:cNvSpPr>
          <p:nvPr>
            <p:ph type="dt" sz="half" idx="10"/>
          </p:nvPr>
        </p:nvSpPr>
        <p:spPr/>
        <p:txBody>
          <a:bodyPr/>
          <a:lstStyle/>
          <a:p>
            <a:fld id="{3F2E8D1A-F607-41F8-9F25-EFC731E7E7F5}" type="datetimeFigureOut">
              <a:rPr lang="zh-CN" altLang="en-US" smtClean="0"/>
              <a:t>2024/12/26</a:t>
            </a:fld>
            <a:endParaRPr lang="zh-CN" altLang="en-US"/>
          </a:p>
        </p:txBody>
      </p:sp>
      <p:sp>
        <p:nvSpPr>
          <p:cNvPr id="6" name="页脚占位符 5">
            <a:extLst>
              <a:ext uri="{FF2B5EF4-FFF2-40B4-BE49-F238E27FC236}">
                <a16:creationId xmlns:a16="http://schemas.microsoft.com/office/drawing/2014/main" id="{78917D94-2085-2374-ED25-EDFC1173F96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D8E6F02-6796-B275-B97E-486386A673AC}"/>
              </a:ext>
            </a:extLst>
          </p:cNvPr>
          <p:cNvSpPr>
            <a:spLocks noGrp="1"/>
          </p:cNvSpPr>
          <p:nvPr>
            <p:ph type="sldNum" sz="quarter" idx="12"/>
          </p:nvPr>
        </p:nvSpPr>
        <p:spPr/>
        <p:txBody>
          <a:bodyPr/>
          <a:lstStyle/>
          <a:p>
            <a:fld id="{FDC72544-AB45-4241-92F4-AC183AA6F757}" type="slidenum">
              <a:rPr lang="zh-CN" altLang="en-US" smtClean="0"/>
              <a:t>‹#›</a:t>
            </a:fld>
            <a:endParaRPr lang="zh-CN" altLang="en-US"/>
          </a:p>
        </p:txBody>
      </p:sp>
    </p:spTree>
    <p:extLst>
      <p:ext uri="{BB962C8B-B14F-4D97-AF65-F5344CB8AC3E}">
        <p14:creationId xmlns:p14="http://schemas.microsoft.com/office/powerpoint/2010/main" val="715259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25A709-BA53-72EB-1586-8FE695FDA1E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294C5D5-9CBD-8493-56FB-468728B475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328175AE-8882-073F-7C93-EF4A0EBCC49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3FE8644-7C4E-FC1A-BEA5-DD9B682EA9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6015F82-D686-C552-961A-D90179328EF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6DE5075-E95C-C5D4-404B-97739A3E9E41}"/>
              </a:ext>
            </a:extLst>
          </p:cNvPr>
          <p:cNvSpPr>
            <a:spLocks noGrp="1"/>
          </p:cNvSpPr>
          <p:nvPr>
            <p:ph type="dt" sz="half" idx="10"/>
          </p:nvPr>
        </p:nvSpPr>
        <p:spPr/>
        <p:txBody>
          <a:bodyPr/>
          <a:lstStyle/>
          <a:p>
            <a:fld id="{3F2E8D1A-F607-41F8-9F25-EFC731E7E7F5}" type="datetimeFigureOut">
              <a:rPr lang="zh-CN" altLang="en-US" smtClean="0"/>
              <a:t>2024/12/26</a:t>
            </a:fld>
            <a:endParaRPr lang="zh-CN" altLang="en-US"/>
          </a:p>
        </p:txBody>
      </p:sp>
      <p:sp>
        <p:nvSpPr>
          <p:cNvPr id="8" name="页脚占位符 7">
            <a:extLst>
              <a:ext uri="{FF2B5EF4-FFF2-40B4-BE49-F238E27FC236}">
                <a16:creationId xmlns:a16="http://schemas.microsoft.com/office/drawing/2014/main" id="{1C0C3732-DF3D-5DF8-F1E5-5B6C3DD6F901}"/>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6454F5B-2373-4DDB-C33A-DA8CE1BE5A0A}"/>
              </a:ext>
            </a:extLst>
          </p:cNvPr>
          <p:cNvSpPr>
            <a:spLocks noGrp="1"/>
          </p:cNvSpPr>
          <p:nvPr>
            <p:ph type="sldNum" sz="quarter" idx="12"/>
          </p:nvPr>
        </p:nvSpPr>
        <p:spPr/>
        <p:txBody>
          <a:bodyPr/>
          <a:lstStyle/>
          <a:p>
            <a:fld id="{FDC72544-AB45-4241-92F4-AC183AA6F757}" type="slidenum">
              <a:rPr lang="zh-CN" altLang="en-US" smtClean="0"/>
              <a:t>‹#›</a:t>
            </a:fld>
            <a:endParaRPr lang="zh-CN" altLang="en-US"/>
          </a:p>
        </p:txBody>
      </p:sp>
    </p:spTree>
    <p:extLst>
      <p:ext uri="{BB962C8B-B14F-4D97-AF65-F5344CB8AC3E}">
        <p14:creationId xmlns:p14="http://schemas.microsoft.com/office/powerpoint/2010/main" val="2045992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4A1C8D-278B-C1B0-19F4-5CE121B615E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FBFA8B4-BD28-13EB-A260-448543DF9A88}"/>
              </a:ext>
            </a:extLst>
          </p:cNvPr>
          <p:cNvSpPr>
            <a:spLocks noGrp="1"/>
          </p:cNvSpPr>
          <p:nvPr>
            <p:ph type="dt" sz="half" idx="10"/>
          </p:nvPr>
        </p:nvSpPr>
        <p:spPr/>
        <p:txBody>
          <a:bodyPr/>
          <a:lstStyle/>
          <a:p>
            <a:fld id="{3F2E8D1A-F607-41F8-9F25-EFC731E7E7F5}" type="datetimeFigureOut">
              <a:rPr lang="zh-CN" altLang="en-US" smtClean="0"/>
              <a:t>2024/12/26</a:t>
            </a:fld>
            <a:endParaRPr lang="zh-CN" altLang="en-US"/>
          </a:p>
        </p:txBody>
      </p:sp>
      <p:sp>
        <p:nvSpPr>
          <p:cNvPr id="4" name="页脚占位符 3">
            <a:extLst>
              <a:ext uri="{FF2B5EF4-FFF2-40B4-BE49-F238E27FC236}">
                <a16:creationId xmlns:a16="http://schemas.microsoft.com/office/drawing/2014/main" id="{A49F2D79-596C-2A00-3D50-2E5FB235B4A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CA1730-4E84-DC9F-3B45-9FFE46411BAD}"/>
              </a:ext>
            </a:extLst>
          </p:cNvPr>
          <p:cNvSpPr>
            <a:spLocks noGrp="1"/>
          </p:cNvSpPr>
          <p:nvPr>
            <p:ph type="sldNum" sz="quarter" idx="12"/>
          </p:nvPr>
        </p:nvSpPr>
        <p:spPr/>
        <p:txBody>
          <a:bodyPr/>
          <a:lstStyle/>
          <a:p>
            <a:fld id="{FDC72544-AB45-4241-92F4-AC183AA6F757}" type="slidenum">
              <a:rPr lang="zh-CN" altLang="en-US" smtClean="0"/>
              <a:t>‹#›</a:t>
            </a:fld>
            <a:endParaRPr lang="zh-CN" altLang="en-US"/>
          </a:p>
        </p:txBody>
      </p:sp>
    </p:spTree>
    <p:extLst>
      <p:ext uri="{BB962C8B-B14F-4D97-AF65-F5344CB8AC3E}">
        <p14:creationId xmlns:p14="http://schemas.microsoft.com/office/powerpoint/2010/main" val="36685881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3D0D4D3-1095-3C2E-585F-272CD6EE042F}"/>
              </a:ext>
            </a:extLst>
          </p:cNvPr>
          <p:cNvSpPr>
            <a:spLocks noGrp="1"/>
          </p:cNvSpPr>
          <p:nvPr>
            <p:ph type="dt" sz="half" idx="10"/>
          </p:nvPr>
        </p:nvSpPr>
        <p:spPr/>
        <p:txBody>
          <a:bodyPr/>
          <a:lstStyle/>
          <a:p>
            <a:fld id="{3F2E8D1A-F607-41F8-9F25-EFC731E7E7F5}" type="datetimeFigureOut">
              <a:rPr lang="zh-CN" altLang="en-US" smtClean="0"/>
              <a:t>2024/12/26</a:t>
            </a:fld>
            <a:endParaRPr lang="zh-CN" altLang="en-US"/>
          </a:p>
        </p:txBody>
      </p:sp>
      <p:sp>
        <p:nvSpPr>
          <p:cNvPr id="3" name="页脚占位符 2">
            <a:extLst>
              <a:ext uri="{FF2B5EF4-FFF2-40B4-BE49-F238E27FC236}">
                <a16:creationId xmlns:a16="http://schemas.microsoft.com/office/drawing/2014/main" id="{1F632C15-22A8-49C1-6EC6-E3BB3899FD6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B25602D-2300-E2E9-4730-D8DF5375A5B2}"/>
              </a:ext>
            </a:extLst>
          </p:cNvPr>
          <p:cNvSpPr>
            <a:spLocks noGrp="1"/>
          </p:cNvSpPr>
          <p:nvPr>
            <p:ph type="sldNum" sz="quarter" idx="12"/>
          </p:nvPr>
        </p:nvSpPr>
        <p:spPr/>
        <p:txBody>
          <a:bodyPr/>
          <a:lstStyle/>
          <a:p>
            <a:fld id="{FDC72544-AB45-4241-92F4-AC183AA6F757}" type="slidenum">
              <a:rPr lang="zh-CN" altLang="en-US" smtClean="0"/>
              <a:t>‹#›</a:t>
            </a:fld>
            <a:endParaRPr lang="zh-CN" altLang="en-US"/>
          </a:p>
        </p:txBody>
      </p:sp>
    </p:spTree>
    <p:extLst>
      <p:ext uri="{BB962C8B-B14F-4D97-AF65-F5344CB8AC3E}">
        <p14:creationId xmlns:p14="http://schemas.microsoft.com/office/powerpoint/2010/main" val="2829474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345155-4751-EB21-3F2F-80601617B8F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67F1404-9ED6-3EED-26AC-524D3ABD590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F066CCF-7E98-ACA8-0882-CAC77F5A34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BE2B663-9516-ED4C-6133-9F3478A95F22}"/>
              </a:ext>
            </a:extLst>
          </p:cNvPr>
          <p:cNvSpPr>
            <a:spLocks noGrp="1"/>
          </p:cNvSpPr>
          <p:nvPr>
            <p:ph type="dt" sz="half" idx="10"/>
          </p:nvPr>
        </p:nvSpPr>
        <p:spPr/>
        <p:txBody>
          <a:bodyPr/>
          <a:lstStyle/>
          <a:p>
            <a:fld id="{3F2E8D1A-F607-41F8-9F25-EFC731E7E7F5}" type="datetimeFigureOut">
              <a:rPr lang="zh-CN" altLang="en-US" smtClean="0"/>
              <a:t>2024/12/26</a:t>
            </a:fld>
            <a:endParaRPr lang="zh-CN" altLang="en-US"/>
          </a:p>
        </p:txBody>
      </p:sp>
      <p:sp>
        <p:nvSpPr>
          <p:cNvPr id="6" name="页脚占位符 5">
            <a:extLst>
              <a:ext uri="{FF2B5EF4-FFF2-40B4-BE49-F238E27FC236}">
                <a16:creationId xmlns:a16="http://schemas.microsoft.com/office/drawing/2014/main" id="{A86AE683-380A-123A-AF6B-F39AB5EBA7D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F969713-D4A1-9D65-C028-09E39AE6CECA}"/>
              </a:ext>
            </a:extLst>
          </p:cNvPr>
          <p:cNvSpPr>
            <a:spLocks noGrp="1"/>
          </p:cNvSpPr>
          <p:nvPr>
            <p:ph type="sldNum" sz="quarter" idx="12"/>
          </p:nvPr>
        </p:nvSpPr>
        <p:spPr/>
        <p:txBody>
          <a:bodyPr/>
          <a:lstStyle/>
          <a:p>
            <a:fld id="{FDC72544-AB45-4241-92F4-AC183AA6F757}" type="slidenum">
              <a:rPr lang="zh-CN" altLang="en-US" smtClean="0"/>
              <a:t>‹#›</a:t>
            </a:fld>
            <a:endParaRPr lang="zh-CN" altLang="en-US"/>
          </a:p>
        </p:txBody>
      </p:sp>
    </p:spTree>
    <p:extLst>
      <p:ext uri="{BB962C8B-B14F-4D97-AF65-F5344CB8AC3E}">
        <p14:creationId xmlns:p14="http://schemas.microsoft.com/office/powerpoint/2010/main" val="1466873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F3D661-6D1C-9808-7DA9-AFFA928DE24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60074B1-052A-16BE-F137-C1A0581B33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9766264-7573-4BCD-CDE8-E933BA1157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D976F4E-5C2C-FC10-B6E9-B7F0F0C2B6DF}"/>
              </a:ext>
            </a:extLst>
          </p:cNvPr>
          <p:cNvSpPr>
            <a:spLocks noGrp="1"/>
          </p:cNvSpPr>
          <p:nvPr>
            <p:ph type="dt" sz="half" idx="10"/>
          </p:nvPr>
        </p:nvSpPr>
        <p:spPr/>
        <p:txBody>
          <a:bodyPr/>
          <a:lstStyle/>
          <a:p>
            <a:fld id="{3F2E8D1A-F607-41F8-9F25-EFC731E7E7F5}" type="datetimeFigureOut">
              <a:rPr lang="zh-CN" altLang="en-US" smtClean="0"/>
              <a:t>2024/12/26</a:t>
            </a:fld>
            <a:endParaRPr lang="zh-CN" altLang="en-US"/>
          </a:p>
        </p:txBody>
      </p:sp>
      <p:sp>
        <p:nvSpPr>
          <p:cNvPr id="6" name="页脚占位符 5">
            <a:extLst>
              <a:ext uri="{FF2B5EF4-FFF2-40B4-BE49-F238E27FC236}">
                <a16:creationId xmlns:a16="http://schemas.microsoft.com/office/drawing/2014/main" id="{4EF2B644-DF67-DF93-5E6F-65777314F94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26212F6-7915-637D-2080-966BD951375A}"/>
              </a:ext>
            </a:extLst>
          </p:cNvPr>
          <p:cNvSpPr>
            <a:spLocks noGrp="1"/>
          </p:cNvSpPr>
          <p:nvPr>
            <p:ph type="sldNum" sz="quarter" idx="12"/>
          </p:nvPr>
        </p:nvSpPr>
        <p:spPr/>
        <p:txBody>
          <a:bodyPr/>
          <a:lstStyle/>
          <a:p>
            <a:fld id="{FDC72544-AB45-4241-92F4-AC183AA6F757}" type="slidenum">
              <a:rPr lang="zh-CN" altLang="en-US" smtClean="0"/>
              <a:t>‹#›</a:t>
            </a:fld>
            <a:endParaRPr lang="zh-CN" altLang="en-US"/>
          </a:p>
        </p:txBody>
      </p:sp>
    </p:spTree>
    <p:extLst>
      <p:ext uri="{BB962C8B-B14F-4D97-AF65-F5344CB8AC3E}">
        <p14:creationId xmlns:p14="http://schemas.microsoft.com/office/powerpoint/2010/main" val="4047784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CB1144-3CA7-BF9C-577C-DE0F2430DA0D}"/>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27A0B24-80C2-649E-E8CF-5E7405D14FE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EA14F01-4E88-602C-A614-084F0CA8FE01}"/>
              </a:ext>
            </a:extLst>
          </p:cNvPr>
          <p:cNvSpPr>
            <a:spLocks noGrp="1"/>
          </p:cNvSpPr>
          <p:nvPr>
            <p:ph type="dt" sz="half" idx="10"/>
          </p:nvPr>
        </p:nvSpPr>
        <p:spPr/>
        <p:txBody>
          <a:bodyPr/>
          <a:lstStyle/>
          <a:p>
            <a:fld id="{3F2E8D1A-F607-41F8-9F25-EFC731E7E7F5}" type="datetimeFigureOut">
              <a:rPr lang="zh-CN" altLang="en-US" smtClean="0"/>
              <a:t>2024/12/26</a:t>
            </a:fld>
            <a:endParaRPr lang="zh-CN" altLang="en-US"/>
          </a:p>
        </p:txBody>
      </p:sp>
      <p:sp>
        <p:nvSpPr>
          <p:cNvPr id="5" name="页脚占位符 4">
            <a:extLst>
              <a:ext uri="{FF2B5EF4-FFF2-40B4-BE49-F238E27FC236}">
                <a16:creationId xmlns:a16="http://schemas.microsoft.com/office/drawing/2014/main" id="{DFF9D4CE-E721-AC0B-80AE-1167D3529D9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C4D2C7B-B2FC-F88B-E38E-53CC45D9C4CD}"/>
              </a:ext>
            </a:extLst>
          </p:cNvPr>
          <p:cNvSpPr>
            <a:spLocks noGrp="1"/>
          </p:cNvSpPr>
          <p:nvPr>
            <p:ph type="sldNum" sz="quarter" idx="12"/>
          </p:nvPr>
        </p:nvSpPr>
        <p:spPr/>
        <p:txBody>
          <a:bodyPr/>
          <a:lstStyle/>
          <a:p>
            <a:fld id="{FDC72544-AB45-4241-92F4-AC183AA6F757}" type="slidenum">
              <a:rPr lang="zh-CN" altLang="en-US" smtClean="0"/>
              <a:t>‹#›</a:t>
            </a:fld>
            <a:endParaRPr lang="zh-CN" altLang="en-US"/>
          </a:p>
        </p:txBody>
      </p:sp>
    </p:spTree>
    <p:extLst>
      <p:ext uri="{BB962C8B-B14F-4D97-AF65-F5344CB8AC3E}">
        <p14:creationId xmlns:p14="http://schemas.microsoft.com/office/powerpoint/2010/main" val="1455861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C75E6D5-C5B8-6218-5649-DF866F4BDDD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7108BA1-6F64-A176-DB27-A48143BBB72E}"/>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F9A82AB-81BB-0E85-3F83-C3248D279C8B}"/>
              </a:ext>
            </a:extLst>
          </p:cNvPr>
          <p:cNvSpPr>
            <a:spLocks noGrp="1"/>
          </p:cNvSpPr>
          <p:nvPr>
            <p:ph type="dt" sz="half" idx="10"/>
          </p:nvPr>
        </p:nvSpPr>
        <p:spPr/>
        <p:txBody>
          <a:bodyPr/>
          <a:lstStyle/>
          <a:p>
            <a:fld id="{3F2E8D1A-F607-41F8-9F25-EFC731E7E7F5}" type="datetimeFigureOut">
              <a:rPr lang="zh-CN" altLang="en-US" smtClean="0"/>
              <a:t>2024/12/26</a:t>
            </a:fld>
            <a:endParaRPr lang="zh-CN" altLang="en-US"/>
          </a:p>
        </p:txBody>
      </p:sp>
      <p:sp>
        <p:nvSpPr>
          <p:cNvPr id="5" name="页脚占位符 4">
            <a:extLst>
              <a:ext uri="{FF2B5EF4-FFF2-40B4-BE49-F238E27FC236}">
                <a16:creationId xmlns:a16="http://schemas.microsoft.com/office/drawing/2014/main" id="{CDB20C1D-BED8-D2AB-7D10-3096552FF8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9014B10-0A95-6BCB-2527-FB30BDB5CB05}"/>
              </a:ext>
            </a:extLst>
          </p:cNvPr>
          <p:cNvSpPr>
            <a:spLocks noGrp="1"/>
          </p:cNvSpPr>
          <p:nvPr>
            <p:ph type="sldNum" sz="quarter" idx="12"/>
          </p:nvPr>
        </p:nvSpPr>
        <p:spPr/>
        <p:txBody>
          <a:bodyPr/>
          <a:lstStyle/>
          <a:p>
            <a:fld id="{FDC72544-AB45-4241-92F4-AC183AA6F757}" type="slidenum">
              <a:rPr lang="zh-CN" altLang="en-US" smtClean="0"/>
              <a:t>‹#›</a:t>
            </a:fld>
            <a:endParaRPr lang="zh-CN" altLang="en-US"/>
          </a:p>
        </p:txBody>
      </p:sp>
    </p:spTree>
    <p:extLst>
      <p:ext uri="{BB962C8B-B14F-4D97-AF65-F5344CB8AC3E}">
        <p14:creationId xmlns:p14="http://schemas.microsoft.com/office/powerpoint/2010/main" val="2509767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8D700E8-74F7-B8C9-DB19-4EBF610D863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C99C9C2-2A42-1CD8-8128-84F07ED948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A4A2A00-346C-23C6-DCB6-AEA5D6BCD7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2E8D1A-F607-41F8-9F25-EFC731E7E7F5}" type="datetimeFigureOut">
              <a:rPr lang="zh-CN" altLang="en-US" smtClean="0"/>
              <a:t>2024/12/26</a:t>
            </a:fld>
            <a:endParaRPr lang="zh-CN" altLang="en-US"/>
          </a:p>
        </p:txBody>
      </p:sp>
      <p:sp>
        <p:nvSpPr>
          <p:cNvPr id="5" name="页脚占位符 4">
            <a:extLst>
              <a:ext uri="{FF2B5EF4-FFF2-40B4-BE49-F238E27FC236}">
                <a16:creationId xmlns:a16="http://schemas.microsoft.com/office/drawing/2014/main" id="{21957801-E73E-2207-4076-057B3DC2A5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4C1843A6-4322-57BD-5E5B-AF936FB24A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C72544-AB45-4241-92F4-AC183AA6F757}" type="slidenum">
              <a:rPr lang="zh-CN" altLang="en-US" smtClean="0"/>
              <a:t>‹#›</a:t>
            </a:fld>
            <a:endParaRPr lang="zh-CN" altLang="en-US"/>
          </a:p>
        </p:txBody>
      </p:sp>
    </p:spTree>
    <p:extLst>
      <p:ext uri="{BB962C8B-B14F-4D97-AF65-F5344CB8AC3E}">
        <p14:creationId xmlns:p14="http://schemas.microsoft.com/office/powerpoint/2010/main" val="22003561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1.gif"/><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gif"/><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gi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gif"/><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gif"/><Relationship Id="rId7"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B4895-A315-BF2D-26E6-923E0107364A}"/>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CC260EE7-6B83-1835-65C6-E51993A184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40396" y="-35778"/>
            <a:ext cx="6924046" cy="6802876"/>
          </a:xfrm>
          <a:prstGeom prst="rect">
            <a:avLst/>
          </a:prstGeom>
        </p:spPr>
      </p:pic>
      <p:pic>
        <p:nvPicPr>
          <p:cNvPr id="15" name="图片 14">
            <a:extLst>
              <a:ext uri="{FF2B5EF4-FFF2-40B4-BE49-F238E27FC236}">
                <a16:creationId xmlns:a16="http://schemas.microsoft.com/office/drawing/2014/main" id="{BDD60FB8-B494-6644-CCF3-98AEA51BF22A}"/>
              </a:ext>
            </a:extLst>
          </p:cNvPr>
          <p:cNvPicPr>
            <a:picLocks noChangeAspect="1"/>
          </p:cNvPicPr>
          <p:nvPr/>
        </p:nvPicPr>
        <p:blipFill>
          <a:blip r:embed="rId4"/>
          <a:stretch>
            <a:fillRect/>
          </a:stretch>
        </p:blipFill>
        <p:spPr>
          <a:xfrm>
            <a:off x="0" y="-34374"/>
            <a:ext cx="12267689" cy="7449563"/>
          </a:xfrm>
          <a:prstGeom prst="rect">
            <a:avLst/>
          </a:prstGeom>
        </p:spPr>
      </p:pic>
      <p:pic>
        <p:nvPicPr>
          <p:cNvPr id="3" name="图片 2">
            <a:extLst>
              <a:ext uri="{FF2B5EF4-FFF2-40B4-BE49-F238E27FC236}">
                <a16:creationId xmlns:a16="http://schemas.microsoft.com/office/drawing/2014/main" id="{2BD1C009-9EBB-4902-3C95-106E5940FDB1}"/>
              </a:ext>
            </a:extLst>
          </p:cNvPr>
          <p:cNvPicPr>
            <a:picLocks noChangeAspect="1"/>
          </p:cNvPicPr>
          <p:nvPr/>
        </p:nvPicPr>
        <p:blipFill>
          <a:blip r:embed="rId5"/>
          <a:stretch>
            <a:fillRect/>
          </a:stretch>
        </p:blipFill>
        <p:spPr>
          <a:xfrm>
            <a:off x="2760655" y="90901"/>
            <a:ext cx="6670689" cy="6676197"/>
          </a:xfrm>
          <a:prstGeom prst="rect">
            <a:avLst/>
          </a:prstGeom>
        </p:spPr>
      </p:pic>
      <p:pic>
        <p:nvPicPr>
          <p:cNvPr id="5" name="图片 4">
            <a:extLst>
              <a:ext uri="{FF2B5EF4-FFF2-40B4-BE49-F238E27FC236}">
                <a16:creationId xmlns:a16="http://schemas.microsoft.com/office/drawing/2014/main" id="{386286EE-F280-3C34-247C-F4E647C3523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33830" y="1020647"/>
            <a:ext cx="10629209" cy="4495173"/>
          </a:xfrm>
          <a:prstGeom prst="rect">
            <a:avLst/>
          </a:prstGeom>
        </p:spPr>
      </p:pic>
      <p:pic>
        <p:nvPicPr>
          <p:cNvPr id="7" name="图片 6">
            <a:extLst>
              <a:ext uri="{FF2B5EF4-FFF2-40B4-BE49-F238E27FC236}">
                <a16:creationId xmlns:a16="http://schemas.microsoft.com/office/drawing/2014/main" id="{692B52E9-2A2C-121E-EFFA-3E72AFB9E8E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054274" y="-1509228"/>
            <a:ext cx="10050251" cy="6277808"/>
          </a:xfrm>
          <a:prstGeom prst="rect">
            <a:avLst/>
          </a:prstGeom>
        </p:spPr>
      </p:pic>
      <p:pic>
        <p:nvPicPr>
          <p:cNvPr id="8" name="图片 7">
            <a:extLst>
              <a:ext uri="{FF2B5EF4-FFF2-40B4-BE49-F238E27FC236}">
                <a16:creationId xmlns:a16="http://schemas.microsoft.com/office/drawing/2014/main" id="{00ECE576-67A7-9530-3394-5AF280F5B3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28214" y="2271925"/>
            <a:ext cx="10629209" cy="4495173"/>
          </a:xfrm>
          <a:prstGeom prst="rect">
            <a:avLst/>
          </a:prstGeom>
        </p:spPr>
      </p:pic>
      <p:pic>
        <p:nvPicPr>
          <p:cNvPr id="9" name="图片 8">
            <a:extLst>
              <a:ext uri="{FF2B5EF4-FFF2-40B4-BE49-F238E27FC236}">
                <a16:creationId xmlns:a16="http://schemas.microsoft.com/office/drawing/2014/main" id="{D9421EAE-2855-1EAD-AAEB-3A0BA514163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525728" y="2828915"/>
            <a:ext cx="10050251" cy="6277808"/>
          </a:xfrm>
          <a:prstGeom prst="rect">
            <a:avLst/>
          </a:prstGeom>
        </p:spPr>
      </p:pic>
      <p:sp>
        <p:nvSpPr>
          <p:cNvPr id="13" name="文本框 12">
            <a:extLst>
              <a:ext uri="{FF2B5EF4-FFF2-40B4-BE49-F238E27FC236}">
                <a16:creationId xmlns:a16="http://schemas.microsoft.com/office/drawing/2014/main" id="{5619C02A-0A5C-7114-543B-2052B4293727}"/>
              </a:ext>
            </a:extLst>
          </p:cNvPr>
          <p:cNvSpPr txBox="1"/>
          <p:nvPr/>
        </p:nvSpPr>
        <p:spPr>
          <a:xfrm>
            <a:off x="1418633" y="785316"/>
            <a:ext cx="794830" cy="4832092"/>
          </a:xfrm>
          <a:prstGeom prst="rect">
            <a:avLst/>
          </a:prstGeom>
          <a:noFill/>
        </p:spPr>
        <p:txBody>
          <a:bodyPr wrap="square" rtlCol="0">
            <a:spAutoFit/>
          </a:bodyPr>
          <a:lstStyle/>
          <a:p>
            <a:r>
              <a:rPr lang="zh-CN" altLang="en-US" sz="4400" dirty="0">
                <a:solidFill>
                  <a:schemeClr val="accent6">
                    <a:lumMod val="75000"/>
                  </a:schemeClr>
                </a:solidFill>
                <a:latin typeface="楷体" panose="02010609060101010101" pitchFamily="49" charset="-122"/>
                <a:ea typeface="楷体" panose="02010609060101010101" pitchFamily="49" charset="-122"/>
              </a:rPr>
              <a:t>数据可视化报告</a:t>
            </a:r>
          </a:p>
        </p:txBody>
      </p:sp>
      <p:sp>
        <p:nvSpPr>
          <p:cNvPr id="16" name="文本框 15">
            <a:extLst>
              <a:ext uri="{FF2B5EF4-FFF2-40B4-BE49-F238E27FC236}">
                <a16:creationId xmlns:a16="http://schemas.microsoft.com/office/drawing/2014/main" id="{FB1DAE32-D134-09F8-E463-471471B0E9E3}"/>
              </a:ext>
            </a:extLst>
          </p:cNvPr>
          <p:cNvSpPr txBox="1"/>
          <p:nvPr/>
        </p:nvSpPr>
        <p:spPr>
          <a:xfrm>
            <a:off x="10243429" y="852187"/>
            <a:ext cx="938025" cy="4832092"/>
          </a:xfrm>
          <a:prstGeom prst="rect">
            <a:avLst/>
          </a:prstGeom>
          <a:noFill/>
        </p:spPr>
        <p:txBody>
          <a:bodyPr wrap="square" rtlCol="0">
            <a:spAutoFit/>
          </a:bodyPr>
          <a:lstStyle/>
          <a:p>
            <a:r>
              <a:rPr lang="en-US" altLang="zh-CN" sz="4400" dirty="0">
                <a:solidFill>
                  <a:schemeClr val="accent6">
                    <a:lumMod val="75000"/>
                  </a:schemeClr>
                </a:solidFill>
                <a:latin typeface="楷体" panose="02010609060101010101" pitchFamily="49" charset="-122"/>
                <a:ea typeface="楷体" panose="02010609060101010101" pitchFamily="49" charset="-122"/>
              </a:rPr>
              <a:t>|</a:t>
            </a:r>
            <a:r>
              <a:rPr lang="zh-CN" altLang="en-US" sz="4400" dirty="0">
                <a:solidFill>
                  <a:schemeClr val="accent6">
                    <a:lumMod val="75000"/>
                  </a:schemeClr>
                </a:solidFill>
                <a:latin typeface="楷体" panose="02010609060101010101" pitchFamily="49" charset="-122"/>
                <a:ea typeface="楷体" panose="02010609060101010101" pitchFamily="49" charset="-122"/>
              </a:rPr>
              <a:t>寻找幸福之路</a:t>
            </a:r>
          </a:p>
        </p:txBody>
      </p:sp>
      <p:sp>
        <p:nvSpPr>
          <p:cNvPr id="2" name="文本框 1">
            <a:extLst>
              <a:ext uri="{FF2B5EF4-FFF2-40B4-BE49-F238E27FC236}">
                <a16:creationId xmlns:a16="http://schemas.microsoft.com/office/drawing/2014/main" id="{906810C6-CC17-DAE5-63EC-3D7C69831A45}"/>
              </a:ext>
            </a:extLst>
          </p:cNvPr>
          <p:cNvSpPr txBox="1"/>
          <p:nvPr/>
        </p:nvSpPr>
        <p:spPr>
          <a:xfrm>
            <a:off x="7936546" y="6523041"/>
            <a:ext cx="4437161" cy="369332"/>
          </a:xfrm>
          <a:prstGeom prst="rect">
            <a:avLst/>
          </a:prstGeom>
          <a:noFill/>
        </p:spPr>
        <p:txBody>
          <a:bodyPr wrap="square" rtlCol="0">
            <a:spAutoFit/>
          </a:bodyPr>
          <a:lstStyle/>
          <a:p>
            <a:r>
              <a:rPr lang="zh-CN" altLang="en-US" dirty="0">
                <a:solidFill>
                  <a:schemeClr val="accent6">
                    <a:lumMod val="75000"/>
                  </a:schemeClr>
                </a:solidFill>
                <a:latin typeface="楷体" panose="02010609060101010101" pitchFamily="49" charset="-122"/>
                <a:ea typeface="楷体" panose="02010609060101010101" pitchFamily="49" charset="-122"/>
              </a:rPr>
              <a:t>数据可视化都队</a:t>
            </a:r>
            <a:r>
              <a:rPr lang="en-US" altLang="zh-CN" dirty="0">
                <a:solidFill>
                  <a:schemeClr val="accent6">
                    <a:lumMod val="75000"/>
                  </a:schemeClr>
                </a:solidFill>
                <a:latin typeface="楷体" panose="02010609060101010101" pitchFamily="49" charset="-122"/>
                <a:ea typeface="楷体" panose="02010609060101010101" pitchFamily="49" charset="-122"/>
              </a:rPr>
              <a:t>——</a:t>
            </a:r>
            <a:r>
              <a:rPr lang="zh-CN" altLang="en-US" dirty="0">
                <a:solidFill>
                  <a:schemeClr val="accent6">
                    <a:lumMod val="75000"/>
                  </a:schemeClr>
                </a:solidFill>
                <a:latin typeface="楷体" panose="02010609060101010101" pitchFamily="49" charset="-122"/>
                <a:ea typeface="楷体" panose="02010609060101010101" pitchFamily="49" charset="-122"/>
              </a:rPr>
              <a:t>许洋 张耕嘉 王众</a:t>
            </a:r>
          </a:p>
        </p:txBody>
      </p:sp>
      <p:sp>
        <p:nvSpPr>
          <p:cNvPr id="4" name="矩形 3">
            <a:extLst>
              <a:ext uri="{FF2B5EF4-FFF2-40B4-BE49-F238E27FC236}">
                <a16:creationId xmlns:a16="http://schemas.microsoft.com/office/drawing/2014/main" id="{9289E026-BCF0-7270-CB7D-88A1D01B7F78}"/>
              </a:ext>
            </a:extLst>
          </p:cNvPr>
          <p:cNvSpPr/>
          <p:nvPr/>
        </p:nvSpPr>
        <p:spPr>
          <a:xfrm>
            <a:off x="10452970" y="1001858"/>
            <a:ext cx="45719" cy="526317"/>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757827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E8239-EA54-E220-E700-F32638C5122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86ED7C4E-BEC0-DAD7-D9E9-B94040E74FA7}"/>
              </a:ext>
            </a:extLst>
          </p:cNvPr>
          <p:cNvSpPr/>
          <p:nvPr/>
        </p:nvSpPr>
        <p:spPr>
          <a:xfrm rot="5400000">
            <a:off x="6122376" y="-4938346"/>
            <a:ext cx="70339" cy="11635154"/>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8141DEEA-DA65-5C24-19B7-09AEF428C1D7}"/>
              </a:ext>
            </a:extLst>
          </p:cNvPr>
          <p:cNvSpPr txBox="1"/>
          <p:nvPr/>
        </p:nvSpPr>
        <p:spPr>
          <a:xfrm>
            <a:off x="4722708" y="109790"/>
            <a:ext cx="4246744" cy="769441"/>
          </a:xfrm>
          <a:prstGeom prst="rect">
            <a:avLst/>
          </a:prstGeom>
          <a:noFill/>
        </p:spPr>
        <p:txBody>
          <a:bodyPr wrap="square" rtlCol="0">
            <a:spAutoFit/>
          </a:bodyPr>
          <a:lstStyle/>
          <a:p>
            <a:r>
              <a:rPr lang="zh-CN" altLang="en-US" sz="4400" dirty="0">
                <a:latin typeface="华文楷体" panose="02010600040101010101" pitchFamily="2" charset="-122"/>
                <a:ea typeface="华文楷体" panose="02010600040101010101" pitchFamily="2" charset="-122"/>
              </a:rPr>
              <a:t>目标分析</a:t>
            </a:r>
          </a:p>
        </p:txBody>
      </p:sp>
      <p:sp>
        <p:nvSpPr>
          <p:cNvPr id="5" name="文本框 4">
            <a:extLst>
              <a:ext uri="{FF2B5EF4-FFF2-40B4-BE49-F238E27FC236}">
                <a16:creationId xmlns:a16="http://schemas.microsoft.com/office/drawing/2014/main" id="{C82BC7F2-6946-9249-79F1-44BB8F369BC6}"/>
              </a:ext>
            </a:extLst>
          </p:cNvPr>
          <p:cNvSpPr txBox="1"/>
          <p:nvPr/>
        </p:nvSpPr>
        <p:spPr>
          <a:xfrm>
            <a:off x="4722708" y="-444044"/>
            <a:ext cx="4284785" cy="369332"/>
          </a:xfrm>
          <a:prstGeom prst="rect">
            <a:avLst/>
          </a:prstGeom>
          <a:noFill/>
        </p:spPr>
        <p:txBody>
          <a:bodyPr wrap="square" rtlCol="0">
            <a:spAutoFit/>
          </a:bodyPr>
          <a:lstStyle/>
          <a:p>
            <a:r>
              <a:rPr lang="zh-CN" altLang="en-US" dirty="0">
                <a:latin typeface="华文楷体" panose="02010600040101010101" pitchFamily="2" charset="-122"/>
                <a:ea typeface="华文楷体" panose="02010600040101010101" pitchFamily="2" charset="-122"/>
              </a:rPr>
              <a:t>数据集介绍</a:t>
            </a:r>
          </a:p>
        </p:txBody>
      </p:sp>
      <p:sp>
        <p:nvSpPr>
          <p:cNvPr id="7" name="文本框 6">
            <a:extLst>
              <a:ext uri="{FF2B5EF4-FFF2-40B4-BE49-F238E27FC236}">
                <a16:creationId xmlns:a16="http://schemas.microsoft.com/office/drawing/2014/main" id="{864CC4F7-2AB3-5209-0077-F52FA05C7587}"/>
              </a:ext>
            </a:extLst>
          </p:cNvPr>
          <p:cNvSpPr txBox="1"/>
          <p:nvPr/>
        </p:nvSpPr>
        <p:spPr>
          <a:xfrm>
            <a:off x="589144" y="1833174"/>
            <a:ext cx="10555490" cy="461665"/>
          </a:xfrm>
          <a:prstGeom prst="rect">
            <a:avLst/>
          </a:prstGeom>
          <a:noFill/>
        </p:spPr>
        <p:txBody>
          <a:bodyPr wrap="square" rtlCol="0">
            <a:spAutoFit/>
          </a:bodyPr>
          <a:lstStyle/>
          <a:p>
            <a:r>
              <a:rPr lang="zh-CN" altLang="en-US" sz="2400" dirty="0">
                <a:latin typeface="华文楷体" panose="02010600040101010101" pitchFamily="2" charset="-122"/>
                <a:ea typeface="华文楷体" panose="02010600040101010101" pitchFamily="2" charset="-122"/>
              </a:rPr>
              <a:t>在紧张升学的压力下，是否对出国的机会产生期待，但对外面感到未知的不安</a:t>
            </a:r>
          </a:p>
        </p:txBody>
      </p:sp>
      <p:sp>
        <p:nvSpPr>
          <p:cNvPr id="8" name="文本框 7">
            <a:extLst>
              <a:ext uri="{FF2B5EF4-FFF2-40B4-BE49-F238E27FC236}">
                <a16:creationId xmlns:a16="http://schemas.microsoft.com/office/drawing/2014/main" id="{910192BD-80E1-B2C2-20AE-57EFA1C5BFAB}"/>
              </a:ext>
            </a:extLst>
          </p:cNvPr>
          <p:cNvSpPr txBox="1"/>
          <p:nvPr/>
        </p:nvSpPr>
        <p:spPr>
          <a:xfrm>
            <a:off x="589144" y="2417786"/>
            <a:ext cx="10555490" cy="461665"/>
          </a:xfrm>
          <a:prstGeom prst="rect">
            <a:avLst/>
          </a:prstGeom>
          <a:noFill/>
        </p:spPr>
        <p:txBody>
          <a:bodyPr wrap="square" rtlCol="0">
            <a:spAutoFit/>
          </a:bodyPr>
          <a:lstStyle/>
          <a:p>
            <a:r>
              <a:rPr lang="zh-CN" altLang="en-US" sz="2400" dirty="0">
                <a:latin typeface="华文楷体" panose="02010600040101010101" pitchFamily="2" charset="-122"/>
                <a:ea typeface="华文楷体" panose="02010600040101010101" pitchFamily="2" charset="-122"/>
              </a:rPr>
              <a:t>在闲暇放松的假期里，是否对绚丽的文化感到新奇，但又害怕目的地不尽人意</a:t>
            </a:r>
          </a:p>
        </p:txBody>
      </p:sp>
      <p:pic>
        <p:nvPicPr>
          <p:cNvPr id="10" name="图片 9">
            <a:extLst>
              <a:ext uri="{FF2B5EF4-FFF2-40B4-BE49-F238E27FC236}">
                <a16:creationId xmlns:a16="http://schemas.microsoft.com/office/drawing/2014/main" id="{F3CA40A0-9BA4-EF04-9A7D-53E7D85332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08854" y="11599"/>
            <a:ext cx="783146" cy="769441"/>
          </a:xfrm>
          <a:prstGeom prst="rect">
            <a:avLst/>
          </a:prstGeom>
        </p:spPr>
      </p:pic>
      <p:sp>
        <p:nvSpPr>
          <p:cNvPr id="12" name="文本框 11">
            <a:extLst>
              <a:ext uri="{FF2B5EF4-FFF2-40B4-BE49-F238E27FC236}">
                <a16:creationId xmlns:a16="http://schemas.microsoft.com/office/drawing/2014/main" id="{B6B43BA3-8ABA-FB64-FA24-3E73C7953CB1}"/>
              </a:ext>
            </a:extLst>
          </p:cNvPr>
          <p:cNvSpPr txBox="1"/>
          <p:nvPr/>
        </p:nvSpPr>
        <p:spPr>
          <a:xfrm>
            <a:off x="2408907" y="4948747"/>
            <a:ext cx="9691235" cy="923330"/>
          </a:xfrm>
          <a:prstGeom prst="rect">
            <a:avLst/>
          </a:prstGeom>
          <a:noFill/>
        </p:spPr>
        <p:txBody>
          <a:bodyPr wrap="square" rtlCol="0">
            <a:spAutoFit/>
          </a:bodyPr>
          <a:lstStyle/>
          <a:p>
            <a:r>
              <a:rPr lang="zh-CN" altLang="en-US" sz="5400" dirty="0">
                <a:solidFill>
                  <a:schemeClr val="accent6">
                    <a:lumMod val="75000"/>
                  </a:schemeClr>
                </a:solidFill>
                <a:latin typeface="华文楷体" panose="02010600040101010101" pitchFamily="2" charset="-122"/>
                <a:ea typeface="华文楷体" panose="02010600040101010101" pitchFamily="2" charset="-122"/>
              </a:rPr>
              <a:t>跟随我们！寻找幸福之路</a:t>
            </a:r>
            <a:r>
              <a:rPr lang="en-US" altLang="zh-CN" sz="5400" dirty="0">
                <a:solidFill>
                  <a:schemeClr val="accent6">
                    <a:lumMod val="75000"/>
                  </a:schemeClr>
                </a:solidFill>
                <a:latin typeface="华文楷体" panose="02010600040101010101" pitchFamily="2" charset="-122"/>
                <a:ea typeface="华文楷体" panose="02010600040101010101" pitchFamily="2" charset="-122"/>
              </a:rPr>
              <a:t>~~~</a:t>
            </a:r>
            <a:endParaRPr lang="zh-CN" altLang="en-US" sz="5400" dirty="0">
              <a:solidFill>
                <a:schemeClr val="accent6">
                  <a:lumMod val="75000"/>
                </a:schemeClr>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30682229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CBDDEDC-89AC-C5CB-5971-C2DA9314F384}"/>
              </a:ext>
            </a:extLst>
          </p:cNvPr>
          <p:cNvSpPr/>
          <p:nvPr/>
        </p:nvSpPr>
        <p:spPr>
          <a:xfrm rot="5400000">
            <a:off x="6122376" y="-4938346"/>
            <a:ext cx="70339" cy="11635154"/>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BF5734A8-FBA1-776C-61DC-C5C8765A3286}"/>
              </a:ext>
            </a:extLst>
          </p:cNvPr>
          <p:cNvSpPr txBox="1"/>
          <p:nvPr/>
        </p:nvSpPr>
        <p:spPr>
          <a:xfrm>
            <a:off x="4538601" y="136175"/>
            <a:ext cx="4284785" cy="707886"/>
          </a:xfrm>
          <a:prstGeom prst="rect">
            <a:avLst/>
          </a:prstGeom>
          <a:noFill/>
        </p:spPr>
        <p:txBody>
          <a:bodyPr wrap="square" rtlCol="0">
            <a:spAutoFit/>
          </a:bodyPr>
          <a:lstStyle/>
          <a:p>
            <a:r>
              <a:rPr lang="zh-CN" altLang="en-US" sz="4000" dirty="0">
                <a:latin typeface="华文楷体" panose="02010600040101010101" pitchFamily="2" charset="-122"/>
                <a:ea typeface="华文楷体" panose="02010600040101010101" pitchFamily="2" charset="-122"/>
              </a:rPr>
              <a:t>数据集介绍</a:t>
            </a:r>
          </a:p>
        </p:txBody>
      </p:sp>
      <p:sp>
        <p:nvSpPr>
          <p:cNvPr id="5" name="文本框 4">
            <a:extLst>
              <a:ext uri="{FF2B5EF4-FFF2-40B4-BE49-F238E27FC236}">
                <a16:creationId xmlns:a16="http://schemas.microsoft.com/office/drawing/2014/main" id="{6B2F5072-F27A-0FD4-9FA1-C63AF20B10DE}"/>
              </a:ext>
            </a:extLst>
          </p:cNvPr>
          <p:cNvSpPr txBox="1"/>
          <p:nvPr/>
        </p:nvSpPr>
        <p:spPr>
          <a:xfrm>
            <a:off x="5216375" y="-307777"/>
            <a:ext cx="4246744" cy="307777"/>
          </a:xfrm>
          <a:prstGeom prst="rect">
            <a:avLst/>
          </a:prstGeom>
          <a:noFill/>
        </p:spPr>
        <p:txBody>
          <a:bodyPr wrap="square" rtlCol="0">
            <a:spAutoFit/>
          </a:bodyPr>
          <a:lstStyle/>
          <a:p>
            <a:r>
              <a:rPr lang="zh-CN" altLang="en-US" sz="1400" dirty="0">
                <a:latin typeface="华文楷体" panose="02010600040101010101" pitchFamily="2" charset="-122"/>
                <a:ea typeface="华文楷体" panose="02010600040101010101" pitchFamily="2" charset="-122"/>
              </a:rPr>
              <a:t>目标分析</a:t>
            </a:r>
          </a:p>
        </p:txBody>
      </p:sp>
      <p:sp>
        <p:nvSpPr>
          <p:cNvPr id="7" name="文本框 6">
            <a:extLst>
              <a:ext uri="{FF2B5EF4-FFF2-40B4-BE49-F238E27FC236}">
                <a16:creationId xmlns:a16="http://schemas.microsoft.com/office/drawing/2014/main" id="{0A7CC177-D557-6153-A187-653C6F88B69C}"/>
              </a:ext>
            </a:extLst>
          </p:cNvPr>
          <p:cNvSpPr txBox="1"/>
          <p:nvPr/>
        </p:nvSpPr>
        <p:spPr>
          <a:xfrm>
            <a:off x="2113756" y="980646"/>
            <a:ext cx="6097044" cy="523220"/>
          </a:xfrm>
          <a:prstGeom prst="rect">
            <a:avLst/>
          </a:prstGeom>
          <a:noFill/>
        </p:spPr>
        <p:txBody>
          <a:bodyPr wrap="square">
            <a:spAutoFit/>
          </a:bodyPr>
          <a:lstStyle/>
          <a:p>
            <a:r>
              <a:rPr lang="zh-CN" altLang="en-US" sz="2800" dirty="0">
                <a:solidFill>
                  <a:srgbClr val="FF0000"/>
                </a:solidFill>
                <a:latin typeface="华文楷体" panose="02010600040101010101" pitchFamily="2" charset="-122"/>
                <a:ea typeface="华文楷体" panose="02010600040101010101" pitchFamily="2" charset="-122"/>
              </a:rPr>
              <a:t>https://worldhappiness.report/data/</a:t>
            </a:r>
          </a:p>
        </p:txBody>
      </p:sp>
      <p:sp>
        <p:nvSpPr>
          <p:cNvPr id="8" name="文本框 7">
            <a:extLst>
              <a:ext uri="{FF2B5EF4-FFF2-40B4-BE49-F238E27FC236}">
                <a16:creationId xmlns:a16="http://schemas.microsoft.com/office/drawing/2014/main" id="{252AE15D-EED8-1F9F-3A16-AC8E8AFDDB9A}"/>
              </a:ext>
            </a:extLst>
          </p:cNvPr>
          <p:cNvSpPr txBox="1"/>
          <p:nvPr/>
        </p:nvSpPr>
        <p:spPr>
          <a:xfrm>
            <a:off x="359262" y="977422"/>
            <a:ext cx="2354893" cy="523220"/>
          </a:xfrm>
          <a:prstGeom prst="rect">
            <a:avLst/>
          </a:prstGeom>
          <a:noFill/>
        </p:spPr>
        <p:txBody>
          <a:bodyPr wrap="square" rtlCol="0">
            <a:spAutoFit/>
          </a:bodyPr>
          <a:lstStyle/>
          <a:p>
            <a:r>
              <a:rPr lang="zh-CN" altLang="en-US" sz="2800" dirty="0">
                <a:solidFill>
                  <a:srgbClr val="FF0000"/>
                </a:solidFill>
                <a:latin typeface="华文楷体" panose="02010600040101010101" pitchFamily="2" charset="-122"/>
                <a:ea typeface="华文楷体" panose="02010600040101010101" pitchFamily="2" charset="-122"/>
              </a:rPr>
              <a:t>官方网站：</a:t>
            </a:r>
          </a:p>
        </p:txBody>
      </p:sp>
      <p:sp>
        <p:nvSpPr>
          <p:cNvPr id="9" name="文本框 8">
            <a:extLst>
              <a:ext uri="{FF2B5EF4-FFF2-40B4-BE49-F238E27FC236}">
                <a16:creationId xmlns:a16="http://schemas.microsoft.com/office/drawing/2014/main" id="{3CE143E3-DBF5-0B52-8AF0-9C8EADD55BEA}"/>
              </a:ext>
            </a:extLst>
          </p:cNvPr>
          <p:cNvSpPr txBox="1"/>
          <p:nvPr/>
        </p:nvSpPr>
        <p:spPr>
          <a:xfrm>
            <a:off x="359262" y="1666354"/>
            <a:ext cx="11323530"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数据年份：</a:t>
            </a:r>
            <a:r>
              <a:rPr lang="en-US" altLang="zh-CN" sz="2800" dirty="0">
                <a:latin typeface="华文楷体" panose="02010600040101010101" pitchFamily="2" charset="-122"/>
                <a:ea typeface="华文楷体" panose="02010600040101010101" pitchFamily="2" charset="-122"/>
              </a:rPr>
              <a:t>2015-2023</a:t>
            </a:r>
            <a:r>
              <a:rPr lang="zh-CN" altLang="en-US" sz="2800" dirty="0">
                <a:latin typeface="华文楷体" panose="02010600040101010101" pitchFamily="2" charset="-122"/>
                <a:ea typeface="华文楷体" panose="02010600040101010101" pitchFamily="2" charset="-122"/>
              </a:rPr>
              <a:t>（</a:t>
            </a:r>
            <a:r>
              <a:rPr lang="zh-CN" altLang="en-US" sz="2800" dirty="0">
                <a:solidFill>
                  <a:srgbClr val="FF0000"/>
                </a:solidFill>
                <a:latin typeface="华文楷体" panose="02010600040101010101" pitchFamily="2" charset="-122"/>
                <a:ea typeface="华文楷体" panose="02010600040101010101" pitchFamily="2" charset="-122"/>
              </a:rPr>
              <a:t>预测</a:t>
            </a:r>
            <a:r>
              <a:rPr lang="zh-CN" altLang="en-US" sz="2800" dirty="0">
                <a:latin typeface="华文楷体" panose="02010600040101010101" pitchFamily="2" charset="-122"/>
                <a:ea typeface="华文楷体" panose="02010600040101010101" pitchFamily="2" charset="-122"/>
              </a:rPr>
              <a:t>：</a:t>
            </a:r>
            <a:r>
              <a:rPr lang="en-US" altLang="zh-CN" sz="2800" dirty="0">
                <a:latin typeface="华文楷体" panose="02010600040101010101" pitchFamily="2" charset="-122"/>
                <a:ea typeface="华文楷体" panose="02010600040101010101" pitchFamily="2" charset="-122"/>
              </a:rPr>
              <a:t>2024-2026</a:t>
            </a:r>
            <a:r>
              <a:rPr lang="zh-CN" altLang="en-US" sz="2800" dirty="0">
                <a:latin typeface="华文楷体" panose="02010600040101010101" pitchFamily="2" charset="-122"/>
                <a:ea typeface="华文楷体" panose="02010600040101010101" pitchFamily="2" charset="-122"/>
              </a:rPr>
              <a:t>）</a:t>
            </a:r>
          </a:p>
        </p:txBody>
      </p:sp>
      <p:sp>
        <p:nvSpPr>
          <p:cNvPr id="10" name="文本框 9">
            <a:extLst>
              <a:ext uri="{FF2B5EF4-FFF2-40B4-BE49-F238E27FC236}">
                <a16:creationId xmlns:a16="http://schemas.microsoft.com/office/drawing/2014/main" id="{073BC0F0-A8B8-567E-5DFA-5EB296643E2D}"/>
              </a:ext>
            </a:extLst>
          </p:cNvPr>
          <p:cNvSpPr txBox="1"/>
          <p:nvPr/>
        </p:nvSpPr>
        <p:spPr>
          <a:xfrm>
            <a:off x="359262" y="2367628"/>
            <a:ext cx="9638778"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共</a:t>
            </a:r>
            <a:r>
              <a:rPr lang="en-US" altLang="zh-CN" sz="2800" dirty="0">
                <a:latin typeface="华文楷体" panose="02010600040101010101" pitchFamily="2" charset="-122"/>
                <a:ea typeface="华文楷体" panose="02010600040101010101" pitchFamily="2" charset="-122"/>
              </a:rPr>
              <a:t>145</a:t>
            </a:r>
            <a:r>
              <a:rPr lang="zh-CN" altLang="en-US" sz="2800" dirty="0">
                <a:latin typeface="华文楷体" panose="02010600040101010101" pitchFamily="2" charset="-122"/>
                <a:ea typeface="华文楷体" panose="02010600040101010101" pitchFamily="2" charset="-122"/>
              </a:rPr>
              <a:t>个国家</a:t>
            </a:r>
          </a:p>
        </p:txBody>
      </p:sp>
      <p:sp>
        <p:nvSpPr>
          <p:cNvPr id="11" name="文本框 10">
            <a:extLst>
              <a:ext uri="{FF2B5EF4-FFF2-40B4-BE49-F238E27FC236}">
                <a16:creationId xmlns:a16="http://schemas.microsoft.com/office/drawing/2014/main" id="{6D92E693-5B88-2953-623F-12D8D4FEA107}"/>
              </a:ext>
            </a:extLst>
          </p:cNvPr>
          <p:cNvSpPr txBox="1"/>
          <p:nvPr/>
        </p:nvSpPr>
        <p:spPr>
          <a:xfrm>
            <a:off x="339968" y="2959666"/>
            <a:ext cx="6945682" cy="1015663"/>
          </a:xfrm>
          <a:prstGeom prst="rect">
            <a:avLst/>
          </a:prstGeom>
          <a:noFill/>
        </p:spPr>
        <p:txBody>
          <a:bodyPr wrap="square" rtlCol="0">
            <a:spAutoFit/>
          </a:bodyPr>
          <a:lstStyle/>
          <a:p>
            <a:r>
              <a:rPr lang="en-US" altLang="zh-CN" sz="6000" dirty="0">
                <a:solidFill>
                  <a:schemeClr val="accent6">
                    <a:lumMod val="75000"/>
                  </a:schemeClr>
                </a:solidFill>
                <a:latin typeface="华文楷体" panose="02010600040101010101" pitchFamily="2" charset="-122"/>
                <a:ea typeface="华文楷体" panose="02010600040101010101" pitchFamily="2" charset="-122"/>
              </a:rPr>
              <a:t>1+6</a:t>
            </a:r>
            <a:r>
              <a:rPr lang="zh-CN" altLang="en-US" sz="6000" dirty="0">
                <a:latin typeface="华文楷体" panose="02010600040101010101" pitchFamily="2" charset="-122"/>
                <a:ea typeface="华文楷体" panose="02010600040101010101" pitchFamily="2" charset="-122"/>
              </a:rPr>
              <a:t>多维度评价</a:t>
            </a:r>
          </a:p>
        </p:txBody>
      </p:sp>
      <p:pic>
        <p:nvPicPr>
          <p:cNvPr id="3" name="图片 2">
            <a:extLst>
              <a:ext uri="{FF2B5EF4-FFF2-40B4-BE49-F238E27FC236}">
                <a16:creationId xmlns:a16="http://schemas.microsoft.com/office/drawing/2014/main" id="{7ED01372-D5F9-8D37-28FA-D82FC67F2B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08854" y="11599"/>
            <a:ext cx="783146" cy="769441"/>
          </a:xfrm>
          <a:prstGeom prst="rect">
            <a:avLst/>
          </a:prstGeom>
        </p:spPr>
      </p:pic>
      <p:sp>
        <p:nvSpPr>
          <p:cNvPr id="6" name="文本框 5">
            <a:extLst>
              <a:ext uri="{FF2B5EF4-FFF2-40B4-BE49-F238E27FC236}">
                <a16:creationId xmlns:a16="http://schemas.microsoft.com/office/drawing/2014/main" id="{F38E1894-263E-823E-E096-2F4F06076212}"/>
              </a:ext>
            </a:extLst>
          </p:cNvPr>
          <p:cNvSpPr txBox="1"/>
          <p:nvPr/>
        </p:nvSpPr>
        <p:spPr>
          <a:xfrm>
            <a:off x="339968" y="4044147"/>
            <a:ext cx="11635155" cy="2246769"/>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数据处理：</a:t>
            </a:r>
            <a:endParaRPr lang="en-US" altLang="zh-CN" sz="2800" dirty="0">
              <a:latin typeface="华文楷体" panose="02010600040101010101" pitchFamily="2" charset="-122"/>
              <a:ea typeface="华文楷体" panose="02010600040101010101" pitchFamily="2" charset="-122"/>
            </a:endParaRPr>
          </a:p>
          <a:p>
            <a:r>
              <a:rPr lang="en-US" altLang="zh-CN" sz="2800" dirty="0">
                <a:solidFill>
                  <a:srgbClr val="FF0000"/>
                </a:solidFill>
                <a:latin typeface="华文楷体" panose="02010600040101010101" pitchFamily="2" charset="-122"/>
                <a:ea typeface="华文楷体" panose="02010600040101010101" pitchFamily="2" charset="-122"/>
              </a:rPr>
              <a:t>20W</a:t>
            </a:r>
            <a:r>
              <a:rPr lang="zh-CN" altLang="en-US" sz="2800" dirty="0">
                <a:solidFill>
                  <a:srgbClr val="FF0000"/>
                </a:solidFill>
                <a:latin typeface="华文楷体" panose="02010600040101010101" pitchFamily="2" charset="-122"/>
                <a:ea typeface="华文楷体" panose="02010600040101010101" pitchFamily="2" charset="-122"/>
              </a:rPr>
              <a:t>条</a:t>
            </a:r>
            <a:r>
              <a:rPr lang="zh-CN" altLang="en-US" sz="2800" dirty="0">
                <a:latin typeface="华文楷体" panose="02010600040101010101" pitchFamily="2" charset="-122"/>
                <a:ea typeface="华文楷体" panose="02010600040101010101" pitchFamily="2" charset="-122"/>
              </a:rPr>
              <a:t>数据的筛选整合</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提取了最相关的</a:t>
            </a:r>
            <a:r>
              <a:rPr lang="en-US" altLang="zh-CN" sz="2800" dirty="0">
                <a:solidFill>
                  <a:srgbClr val="FF0000"/>
                </a:solidFill>
                <a:latin typeface="华文楷体" panose="02010600040101010101" pitchFamily="2" charset="-122"/>
                <a:ea typeface="华文楷体" panose="02010600040101010101" pitchFamily="2" charset="-122"/>
              </a:rPr>
              <a:t>6</a:t>
            </a:r>
            <a:r>
              <a:rPr lang="zh-CN" altLang="en-US" sz="2800" dirty="0">
                <a:solidFill>
                  <a:srgbClr val="FF0000"/>
                </a:solidFill>
                <a:latin typeface="华文楷体" panose="02010600040101010101" pitchFamily="2" charset="-122"/>
                <a:ea typeface="华文楷体" panose="02010600040101010101" pitchFamily="2" charset="-122"/>
              </a:rPr>
              <a:t>个</a:t>
            </a:r>
            <a:r>
              <a:rPr lang="zh-CN" altLang="en-US" sz="2800" dirty="0">
                <a:latin typeface="华文楷体" panose="02010600040101010101" pitchFamily="2" charset="-122"/>
                <a:ea typeface="华文楷体" panose="02010600040101010101" pitchFamily="2" charset="-122"/>
              </a:rPr>
              <a:t>维度</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对逐年数据进行</a:t>
            </a:r>
            <a:r>
              <a:rPr lang="zh-CN" altLang="en-US" sz="2800" dirty="0">
                <a:solidFill>
                  <a:srgbClr val="FF0000"/>
                </a:solidFill>
                <a:latin typeface="华文楷体" panose="02010600040101010101" pitchFamily="2" charset="-122"/>
                <a:ea typeface="华文楷体" panose="02010600040101010101" pitchFamily="2" charset="-122"/>
              </a:rPr>
              <a:t>求平均值</a:t>
            </a:r>
            <a:r>
              <a:rPr lang="zh-CN" altLang="en-US" sz="2800" dirty="0">
                <a:latin typeface="华文楷体" panose="02010600040101010101" pitchFamily="2" charset="-122"/>
                <a:ea typeface="华文楷体" panose="02010600040101010101" pitchFamily="2" charset="-122"/>
              </a:rPr>
              <a:t>操作</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采用</a:t>
            </a:r>
            <a:r>
              <a:rPr lang="zh-CN" altLang="en-US" sz="2800" dirty="0">
                <a:solidFill>
                  <a:srgbClr val="FF0000"/>
                </a:solidFill>
                <a:latin typeface="华文楷体" panose="02010600040101010101" pitchFamily="2" charset="-122"/>
                <a:ea typeface="华文楷体" panose="02010600040101010101" pitchFamily="2" charset="-122"/>
              </a:rPr>
              <a:t>线性回归</a:t>
            </a:r>
            <a:r>
              <a:rPr lang="zh-CN" altLang="en-US" sz="2800" dirty="0">
                <a:latin typeface="华文楷体" panose="02010600040101010101" pitchFamily="2" charset="-122"/>
                <a:ea typeface="华文楷体" panose="02010600040101010101" pitchFamily="2" charset="-122"/>
              </a:rPr>
              <a:t>的方式进行</a:t>
            </a:r>
            <a:r>
              <a:rPr lang="en-US" altLang="zh-CN" sz="2800" dirty="0">
                <a:latin typeface="华文楷体" panose="02010600040101010101" pitchFamily="2" charset="-122"/>
                <a:ea typeface="华文楷体" panose="02010600040101010101" pitchFamily="2" charset="-122"/>
              </a:rPr>
              <a:t>Happiness</a:t>
            </a:r>
            <a:r>
              <a:rPr lang="zh-CN" altLang="en-US" sz="2800" dirty="0">
                <a:latin typeface="华文楷体" panose="02010600040101010101" pitchFamily="2" charset="-122"/>
                <a:ea typeface="华文楷体" panose="02010600040101010101" pitchFamily="2" charset="-122"/>
              </a:rPr>
              <a:t>预测</a:t>
            </a:r>
          </a:p>
        </p:txBody>
      </p:sp>
    </p:spTree>
    <p:extLst>
      <p:ext uri="{BB962C8B-B14F-4D97-AF65-F5344CB8AC3E}">
        <p14:creationId xmlns:p14="http://schemas.microsoft.com/office/powerpoint/2010/main" val="38513950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F01F26-3E6C-259C-2739-CA95C928B0F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5E39ADB3-079B-3DE4-7DB9-934C92830A8C}"/>
              </a:ext>
            </a:extLst>
          </p:cNvPr>
          <p:cNvSpPr/>
          <p:nvPr/>
        </p:nvSpPr>
        <p:spPr>
          <a:xfrm rot="5400000">
            <a:off x="6122376" y="-4938346"/>
            <a:ext cx="70339" cy="11635154"/>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71B4B3C0-4E3D-406E-A5E9-6311ECF4BA4A}"/>
              </a:ext>
            </a:extLst>
          </p:cNvPr>
          <p:cNvSpPr txBox="1"/>
          <p:nvPr/>
        </p:nvSpPr>
        <p:spPr>
          <a:xfrm>
            <a:off x="3895595" y="109790"/>
            <a:ext cx="4797468" cy="769441"/>
          </a:xfrm>
          <a:prstGeom prst="rect">
            <a:avLst/>
          </a:prstGeom>
          <a:noFill/>
        </p:spPr>
        <p:txBody>
          <a:bodyPr wrap="square" rtlCol="0">
            <a:spAutoFit/>
          </a:bodyPr>
          <a:lstStyle/>
          <a:p>
            <a:r>
              <a:rPr lang="zh-CN" altLang="en-US" sz="4400" dirty="0">
                <a:latin typeface="华文楷体" panose="02010600040101010101" pitchFamily="2" charset="-122"/>
                <a:ea typeface="华文楷体" panose="02010600040101010101" pitchFamily="2" charset="-122"/>
              </a:rPr>
              <a:t>可视设计（总览）</a:t>
            </a:r>
          </a:p>
        </p:txBody>
      </p:sp>
      <p:sp>
        <p:nvSpPr>
          <p:cNvPr id="4" name="文本框 3">
            <a:extLst>
              <a:ext uri="{FF2B5EF4-FFF2-40B4-BE49-F238E27FC236}">
                <a16:creationId xmlns:a16="http://schemas.microsoft.com/office/drawing/2014/main" id="{2354B4AD-8FC1-B699-D148-A1A0F63C0007}"/>
              </a:ext>
            </a:extLst>
          </p:cNvPr>
          <p:cNvSpPr txBox="1"/>
          <p:nvPr/>
        </p:nvSpPr>
        <p:spPr>
          <a:xfrm>
            <a:off x="339968" y="1135042"/>
            <a:ext cx="3023270" cy="523220"/>
          </a:xfrm>
          <a:prstGeom prst="rect">
            <a:avLst/>
          </a:prstGeom>
          <a:noFill/>
        </p:spPr>
        <p:txBody>
          <a:bodyPr wrap="square" rtlCol="0">
            <a:spAutoFit/>
          </a:bodyPr>
          <a:lstStyle/>
          <a:p>
            <a:r>
              <a:rPr lang="en-US" altLang="zh-CN"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视图</a:t>
            </a:r>
            <a:r>
              <a:rPr lang="en-US" altLang="zh-CN" sz="2800" dirty="0">
                <a:latin typeface="华文楷体" panose="02010600040101010101" pitchFamily="2" charset="-122"/>
                <a:ea typeface="华文楷体" panose="02010600040101010101" pitchFamily="2" charset="-122"/>
              </a:rPr>
              <a:t>A</a:t>
            </a:r>
            <a:endParaRPr lang="zh-CN" altLang="en-US" sz="2800" dirty="0">
              <a:latin typeface="华文楷体" panose="02010600040101010101" pitchFamily="2" charset="-122"/>
              <a:ea typeface="华文楷体" panose="02010600040101010101" pitchFamily="2" charset="-122"/>
            </a:endParaRPr>
          </a:p>
        </p:txBody>
      </p:sp>
      <p:pic>
        <p:nvPicPr>
          <p:cNvPr id="6" name="图片 5">
            <a:extLst>
              <a:ext uri="{FF2B5EF4-FFF2-40B4-BE49-F238E27FC236}">
                <a16:creationId xmlns:a16="http://schemas.microsoft.com/office/drawing/2014/main" id="{D999D8FE-F274-4540-7B23-27F9D520C6ED}"/>
              </a:ext>
            </a:extLst>
          </p:cNvPr>
          <p:cNvPicPr>
            <a:picLocks noChangeAspect="1"/>
          </p:cNvPicPr>
          <p:nvPr/>
        </p:nvPicPr>
        <p:blipFill>
          <a:blip r:embed="rId2"/>
          <a:stretch>
            <a:fillRect/>
          </a:stretch>
        </p:blipFill>
        <p:spPr>
          <a:xfrm>
            <a:off x="557407" y="1613502"/>
            <a:ext cx="3308287" cy="1925101"/>
          </a:xfrm>
          <a:prstGeom prst="rect">
            <a:avLst/>
          </a:prstGeom>
        </p:spPr>
      </p:pic>
      <p:pic>
        <p:nvPicPr>
          <p:cNvPr id="8" name="图片 7">
            <a:extLst>
              <a:ext uri="{FF2B5EF4-FFF2-40B4-BE49-F238E27FC236}">
                <a16:creationId xmlns:a16="http://schemas.microsoft.com/office/drawing/2014/main" id="{84101204-DB80-ED00-FDF7-3BC57DE790A8}"/>
              </a:ext>
            </a:extLst>
          </p:cNvPr>
          <p:cNvPicPr>
            <a:picLocks noChangeAspect="1"/>
          </p:cNvPicPr>
          <p:nvPr/>
        </p:nvPicPr>
        <p:blipFill>
          <a:blip r:embed="rId3"/>
          <a:stretch>
            <a:fillRect/>
          </a:stretch>
        </p:blipFill>
        <p:spPr>
          <a:xfrm>
            <a:off x="557407" y="3538603"/>
            <a:ext cx="3308287" cy="1821089"/>
          </a:xfrm>
          <a:prstGeom prst="rect">
            <a:avLst/>
          </a:prstGeom>
        </p:spPr>
      </p:pic>
      <p:sp>
        <p:nvSpPr>
          <p:cNvPr id="9" name="文本框 8">
            <a:extLst>
              <a:ext uri="{FF2B5EF4-FFF2-40B4-BE49-F238E27FC236}">
                <a16:creationId xmlns:a16="http://schemas.microsoft.com/office/drawing/2014/main" id="{408B3FE8-091B-4FF5-8345-CC0FE5710538}"/>
              </a:ext>
            </a:extLst>
          </p:cNvPr>
          <p:cNvSpPr txBox="1"/>
          <p:nvPr/>
        </p:nvSpPr>
        <p:spPr>
          <a:xfrm>
            <a:off x="221942" y="5555960"/>
            <a:ext cx="4144411"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直观感受数据的</a:t>
            </a:r>
            <a:r>
              <a:rPr lang="zh-CN" altLang="en-US" sz="2800" dirty="0">
                <a:solidFill>
                  <a:srgbClr val="FF0000"/>
                </a:solidFill>
                <a:latin typeface="华文楷体" panose="02010600040101010101" pitchFamily="2" charset="-122"/>
                <a:ea typeface="华文楷体" panose="02010600040101010101" pitchFamily="2" charset="-122"/>
              </a:rPr>
              <a:t>分布情况</a:t>
            </a:r>
          </a:p>
        </p:txBody>
      </p:sp>
      <p:sp>
        <p:nvSpPr>
          <p:cNvPr id="12" name="文本框 11">
            <a:extLst>
              <a:ext uri="{FF2B5EF4-FFF2-40B4-BE49-F238E27FC236}">
                <a16:creationId xmlns:a16="http://schemas.microsoft.com/office/drawing/2014/main" id="{BB1165DF-D451-C409-9BE6-0E491ADA0F9A}"/>
              </a:ext>
            </a:extLst>
          </p:cNvPr>
          <p:cNvSpPr txBox="1"/>
          <p:nvPr/>
        </p:nvSpPr>
        <p:spPr>
          <a:xfrm>
            <a:off x="3836467" y="1090282"/>
            <a:ext cx="2668045" cy="523220"/>
          </a:xfrm>
          <a:prstGeom prst="rect">
            <a:avLst/>
          </a:prstGeom>
          <a:noFill/>
        </p:spPr>
        <p:txBody>
          <a:bodyPr wrap="square" rtlCol="0">
            <a:spAutoFit/>
          </a:bodyPr>
          <a:lstStyle/>
          <a:p>
            <a:r>
              <a:rPr lang="en-US" altLang="zh-CN"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视图</a:t>
            </a:r>
            <a:r>
              <a:rPr lang="en-US" altLang="zh-CN" sz="2800" dirty="0">
                <a:latin typeface="华文楷体" panose="02010600040101010101" pitchFamily="2" charset="-122"/>
                <a:ea typeface="华文楷体" panose="02010600040101010101" pitchFamily="2" charset="-122"/>
              </a:rPr>
              <a:t>B</a:t>
            </a:r>
            <a:endParaRPr lang="zh-CN" altLang="en-US" sz="2800" dirty="0">
              <a:latin typeface="华文楷体" panose="02010600040101010101" pitchFamily="2" charset="-122"/>
              <a:ea typeface="华文楷体" panose="02010600040101010101" pitchFamily="2" charset="-122"/>
            </a:endParaRPr>
          </a:p>
        </p:txBody>
      </p:sp>
      <p:sp>
        <p:nvSpPr>
          <p:cNvPr id="13" name="文本框 12">
            <a:extLst>
              <a:ext uri="{FF2B5EF4-FFF2-40B4-BE49-F238E27FC236}">
                <a16:creationId xmlns:a16="http://schemas.microsoft.com/office/drawing/2014/main" id="{453E9CAE-7128-BA86-8AE6-0014268CEC51}"/>
              </a:ext>
            </a:extLst>
          </p:cNvPr>
          <p:cNvSpPr txBox="1"/>
          <p:nvPr/>
        </p:nvSpPr>
        <p:spPr>
          <a:xfrm>
            <a:off x="3990298" y="3660820"/>
            <a:ext cx="3515240" cy="1815882"/>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分析</a:t>
            </a:r>
            <a:r>
              <a:rPr lang="en-US" altLang="zh-CN" sz="2800" dirty="0">
                <a:latin typeface="华文楷体" panose="02010600040101010101" pitchFamily="2" charset="-122"/>
                <a:ea typeface="华文楷体" panose="02010600040101010101" pitchFamily="2" charset="-122"/>
              </a:rPr>
              <a:t> </a:t>
            </a:r>
            <a:r>
              <a:rPr lang="en-US" altLang="zh-CN" sz="2800" dirty="0">
                <a:solidFill>
                  <a:srgbClr val="FF0000"/>
                </a:solidFill>
                <a:latin typeface="华文楷体" panose="02010600040101010101" pitchFamily="2" charset="-122"/>
                <a:ea typeface="华文楷体" panose="02010600040101010101" pitchFamily="2" charset="-122"/>
              </a:rPr>
              <a:t>Happiness</a:t>
            </a:r>
            <a:r>
              <a:rPr lang="zh-CN" altLang="en-US" sz="2800" dirty="0">
                <a:latin typeface="华文楷体" panose="02010600040101010101" pitchFamily="2" charset="-122"/>
                <a:ea typeface="华文楷体" panose="02010600040101010101" pitchFamily="2" charset="-122"/>
              </a:rPr>
              <a:t>和其他因素之间的影响</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分析</a:t>
            </a:r>
            <a:r>
              <a:rPr lang="zh-CN" altLang="en-US" sz="2800" dirty="0">
                <a:solidFill>
                  <a:srgbClr val="FF0000"/>
                </a:solidFill>
                <a:latin typeface="华文楷体" panose="02010600040101010101" pitchFamily="2" charset="-122"/>
                <a:ea typeface="华文楷体" panose="02010600040101010101" pitchFamily="2" charset="-122"/>
              </a:rPr>
              <a:t>不同因素</a:t>
            </a:r>
            <a:r>
              <a:rPr lang="zh-CN" altLang="en-US" sz="2800" dirty="0">
                <a:latin typeface="华文楷体" panose="02010600040101010101" pitchFamily="2" charset="-122"/>
                <a:ea typeface="华文楷体" panose="02010600040101010101" pitchFamily="2" charset="-122"/>
              </a:rPr>
              <a:t>之间的影响关系</a:t>
            </a:r>
          </a:p>
        </p:txBody>
      </p:sp>
      <p:pic>
        <p:nvPicPr>
          <p:cNvPr id="7" name="图片 6">
            <a:extLst>
              <a:ext uri="{FF2B5EF4-FFF2-40B4-BE49-F238E27FC236}">
                <a16:creationId xmlns:a16="http://schemas.microsoft.com/office/drawing/2014/main" id="{6B5311BE-5F3D-8F62-C669-CEFA70D22A0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911087" y="1666875"/>
            <a:ext cx="3723506" cy="1709092"/>
          </a:xfrm>
          <a:prstGeom prst="rect">
            <a:avLst/>
          </a:prstGeom>
        </p:spPr>
      </p:pic>
      <p:sp>
        <p:nvSpPr>
          <p:cNvPr id="10" name="文本框 9">
            <a:extLst>
              <a:ext uri="{FF2B5EF4-FFF2-40B4-BE49-F238E27FC236}">
                <a16:creationId xmlns:a16="http://schemas.microsoft.com/office/drawing/2014/main" id="{1968A863-7530-591C-8A6B-80E9B7D230DA}"/>
              </a:ext>
            </a:extLst>
          </p:cNvPr>
          <p:cNvSpPr txBox="1"/>
          <p:nvPr/>
        </p:nvSpPr>
        <p:spPr>
          <a:xfrm>
            <a:off x="7757664" y="1134755"/>
            <a:ext cx="1644086" cy="523220"/>
          </a:xfrm>
          <a:prstGeom prst="rect">
            <a:avLst/>
          </a:prstGeom>
          <a:noFill/>
        </p:spPr>
        <p:txBody>
          <a:bodyPr wrap="square" rtlCol="0">
            <a:spAutoFit/>
          </a:bodyPr>
          <a:lstStyle/>
          <a:p>
            <a:r>
              <a:rPr lang="en-US" altLang="zh-CN"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视图</a:t>
            </a:r>
            <a:r>
              <a:rPr lang="en-US" altLang="zh-CN" sz="2800" dirty="0">
                <a:latin typeface="华文楷体" panose="02010600040101010101" pitchFamily="2" charset="-122"/>
                <a:ea typeface="华文楷体" panose="02010600040101010101" pitchFamily="2" charset="-122"/>
              </a:rPr>
              <a:t>C</a:t>
            </a:r>
            <a:endParaRPr lang="zh-CN" altLang="en-US" sz="2800" dirty="0">
              <a:latin typeface="华文楷体" panose="02010600040101010101" pitchFamily="2" charset="-122"/>
              <a:ea typeface="华文楷体" panose="02010600040101010101" pitchFamily="2" charset="-122"/>
            </a:endParaRPr>
          </a:p>
        </p:txBody>
      </p:sp>
      <p:sp>
        <p:nvSpPr>
          <p:cNvPr id="14" name="文本框 13">
            <a:extLst>
              <a:ext uri="{FF2B5EF4-FFF2-40B4-BE49-F238E27FC236}">
                <a16:creationId xmlns:a16="http://schemas.microsoft.com/office/drawing/2014/main" id="{4930113C-B196-9632-C0C2-F1B59A0B19F8}"/>
              </a:ext>
            </a:extLst>
          </p:cNvPr>
          <p:cNvSpPr txBox="1"/>
          <p:nvPr/>
        </p:nvSpPr>
        <p:spPr>
          <a:xfrm>
            <a:off x="7757664" y="3660820"/>
            <a:ext cx="4064036" cy="1384995"/>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任意三个国家的</a:t>
            </a:r>
            <a:r>
              <a:rPr lang="en-US" altLang="zh-CN" sz="2800" dirty="0">
                <a:latin typeface="华文楷体" panose="02010600040101010101" pitchFamily="2" charset="-122"/>
                <a:ea typeface="华文楷体" panose="02010600040101010101" pitchFamily="2" charset="-122"/>
              </a:rPr>
              <a:t>Happiness</a:t>
            </a:r>
            <a:r>
              <a:rPr lang="zh-CN" altLang="en-US" sz="2800" dirty="0">
                <a:latin typeface="华文楷体" panose="02010600040101010101" pitchFamily="2" charset="-122"/>
                <a:ea typeface="华文楷体" panose="02010600040101010101" pitchFamily="2" charset="-122"/>
              </a:rPr>
              <a:t>的</a:t>
            </a:r>
            <a:r>
              <a:rPr lang="zh-CN" altLang="en-US" sz="2800" dirty="0">
                <a:solidFill>
                  <a:srgbClr val="FF0000"/>
                </a:solidFill>
                <a:latin typeface="华文楷体" panose="02010600040101010101" pitchFamily="2" charset="-122"/>
                <a:ea typeface="华文楷体" panose="02010600040101010101" pitchFamily="2" charset="-122"/>
              </a:rPr>
              <a:t>变化趋势</a:t>
            </a:r>
            <a:r>
              <a:rPr lang="zh-CN" altLang="en-US" sz="2800" dirty="0">
                <a:latin typeface="华文楷体" panose="02010600040101010101" pitchFamily="2" charset="-122"/>
                <a:ea typeface="华文楷体" panose="02010600040101010101" pitchFamily="2" charset="-122"/>
              </a:rPr>
              <a:t>以及预测</a:t>
            </a:r>
          </a:p>
        </p:txBody>
      </p:sp>
      <p:pic>
        <p:nvPicPr>
          <p:cNvPr id="15" name="图片 14">
            <a:extLst>
              <a:ext uri="{FF2B5EF4-FFF2-40B4-BE49-F238E27FC236}">
                <a16:creationId xmlns:a16="http://schemas.microsoft.com/office/drawing/2014/main" id="{E0C5D54C-DAB5-6DC0-5A51-393250D049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08854" y="11599"/>
            <a:ext cx="783146" cy="769441"/>
          </a:xfrm>
          <a:prstGeom prst="rect">
            <a:avLst/>
          </a:prstGeom>
        </p:spPr>
      </p:pic>
      <p:pic>
        <p:nvPicPr>
          <p:cNvPr id="16" name="图片 15">
            <a:extLst>
              <a:ext uri="{FF2B5EF4-FFF2-40B4-BE49-F238E27FC236}">
                <a16:creationId xmlns:a16="http://schemas.microsoft.com/office/drawing/2014/main" id="{4C815602-3FD4-5AB7-BBC9-D561B7C02C21}"/>
              </a:ext>
            </a:extLst>
          </p:cNvPr>
          <p:cNvPicPr>
            <a:picLocks noChangeAspect="1"/>
          </p:cNvPicPr>
          <p:nvPr/>
        </p:nvPicPr>
        <p:blipFill>
          <a:blip r:embed="rId6"/>
          <a:stretch>
            <a:fillRect/>
          </a:stretch>
        </p:blipFill>
        <p:spPr>
          <a:xfrm>
            <a:off x="4083133" y="1635147"/>
            <a:ext cx="3308287" cy="1926239"/>
          </a:xfrm>
          <a:prstGeom prst="rect">
            <a:avLst/>
          </a:prstGeom>
        </p:spPr>
      </p:pic>
    </p:spTree>
    <p:extLst>
      <p:ext uri="{BB962C8B-B14F-4D97-AF65-F5344CB8AC3E}">
        <p14:creationId xmlns:p14="http://schemas.microsoft.com/office/powerpoint/2010/main" val="831994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03C2F2-1094-9752-3E6A-4CBA67E6188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458581C-4F16-8092-FB85-359AE0409D18}"/>
              </a:ext>
            </a:extLst>
          </p:cNvPr>
          <p:cNvSpPr/>
          <p:nvPr/>
        </p:nvSpPr>
        <p:spPr>
          <a:xfrm rot="5400000">
            <a:off x="6122376" y="-4938346"/>
            <a:ext cx="70339" cy="11635154"/>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B4B31BE4-CA9C-2F24-2F30-D7BE3EAE5593}"/>
              </a:ext>
            </a:extLst>
          </p:cNvPr>
          <p:cNvSpPr txBox="1"/>
          <p:nvPr/>
        </p:nvSpPr>
        <p:spPr>
          <a:xfrm>
            <a:off x="5386192" y="97264"/>
            <a:ext cx="3851754" cy="769441"/>
          </a:xfrm>
          <a:prstGeom prst="rect">
            <a:avLst/>
          </a:prstGeom>
          <a:noFill/>
        </p:spPr>
        <p:txBody>
          <a:bodyPr wrap="square" rtlCol="0">
            <a:spAutoFit/>
          </a:bodyPr>
          <a:lstStyle/>
          <a:p>
            <a:r>
              <a:rPr lang="zh-CN" altLang="en-US" sz="4400" dirty="0">
                <a:latin typeface="华文楷体" panose="02010600040101010101" pitchFamily="2" charset="-122"/>
                <a:ea typeface="华文楷体" panose="02010600040101010101" pitchFamily="2" charset="-122"/>
              </a:rPr>
              <a:t>视图</a:t>
            </a:r>
            <a:r>
              <a:rPr lang="en-US" altLang="zh-CN" sz="4400" dirty="0">
                <a:latin typeface="华文楷体" panose="02010600040101010101" pitchFamily="2" charset="-122"/>
                <a:ea typeface="华文楷体" panose="02010600040101010101" pitchFamily="2" charset="-122"/>
              </a:rPr>
              <a:t>A</a:t>
            </a:r>
            <a:endParaRPr lang="zh-CN" altLang="en-US" sz="4400" dirty="0">
              <a:latin typeface="华文楷体" panose="02010600040101010101" pitchFamily="2" charset="-122"/>
              <a:ea typeface="华文楷体" panose="02010600040101010101" pitchFamily="2" charset="-122"/>
            </a:endParaRPr>
          </a:p>
        </p:txBody>
      </p:sp>
      <p:pic>
        <p:nvPicPr>
          <p:cNvPr id="4" name="图片 3">
            <a:extLst>
              <a:ext uri="{FF2B5EF4-FFF2-40B4-BE49-F238E27FC236}">
                <a16:creationId xmlns:a16="http://schemas.microsoft.com/office/drawing/2014/main" id="{49CF65F3-3FE3-1936-D189-88896E476FA5}"/>
              </a:ext>
            </a:extLst>
          </p:cNvPr>
          <p:cNvPicPr>
            <a:picLocks noChangeAspect="1"/>
          </p:cNvPicPr>
          <p:nvPr/>
        </p:nvPicPr>
        <p:blipFill>
          <a:blip r:embed="rId3"/>
          <a:stretch>
            <a:fillRect/>
          </a:stretch>
        </p:blipFill>
        <p:spPr>
          <a:xfrm>
            <a:off x="327441" y="3872781"/>
            <a:ext cx="4609579" cy="2682326"/>
          </a:xfrm>
          <a:prstGeom prst="rect">
            <a:avLst/>
          </a:prstGeom>
        </p:spPr>
      </p:pic>
      <p:pic>
        <p:nvPicPr>
          <p:cNvPr id="5" name="图片 4">
            <a:extLst>
              <a:ext uri="{FF2B5EF4-FFF2-40B4-BE49-F238E27FC236}">
                <a16:creationId xmlns:a16="http://schemas.microsoft.com/office/drawing/2014/main" id="{372F10E0-D518-CF2D-3A76-56C151B1F71D}"/>
              </a:ext>
            </a:extLst>
          </p:cNvPr>
          <p:cNvPicPr>
            <a:picLocks noChangeAspect="1"/>
          </p:cNvPicPr>
          <p:nvPr/>
        </p:nvPicPr>
        <p:blipFill>
          <a:blip r:embed="rId4"/>
          <a:stretch>
            <a:fillRect/>
          </a:stretch>
        </p:blipFill>
        <p:spPr>
          <a:xfrm>
            <a:off x="6837709" y="3900573"/>
            <a:ext cx="4962718" cy="2731791"/>
          </a:xfrm>
          <a:prstGeom prst="rect">
            <a:avLst/>
          </a:prstGeom>
        </p:spPr>
      </p:pic>
      <p:sp>
        <p:nvSpPr>
          <p:cNvPr id="6" name="箭头: 右 5">
            <a:extLst>
              <a:ext uri="{FF2B5EF4-FFF2-40B4-BE49-F238E27FC236}">
                <a16:creationId xmlns:a16="http://schemas.microsoft.com/office/drawing/2014/main" id="{107F30A9-5DC3-3707-2CDD-E1346FE30213}"/>
              </a:ext>
            </a:extLst>
          </p:cNvPr>
          <p:cNvSpPr/>
          <p:nvPr/>
        </p:nvSpPr>
        <p:spPr>
          <a:xfrm>
            <a:off x="5233164" y="5059790"/>
            <a:ext cx="1102290" cy="206679"/>
          </a:xfrm>
          <a:prstGeom prst="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sp>
        <p:nvSpPr>
          <p:cNvPr id="7" name="文本框 6">
            <a:extLst>
              <a:ext uri="{FF2B5EF4-FFF2-40B4-BE49-F238E27FC236}">
                <a16:creationId xmlns:a16="http://schemas.microsoft.com/office/drawing/2014/main" id="{1102BC85-A699-C124-5807-70D89035A5D6}"/>
              </a:ext>
            </a:extLst>
          </p:cNvPr>
          <p:cNvSpPr txBox="1"/>
          <p:nvPr/>
        </p:nvSpPr>
        <p:spPr>
          <a:xfrm>
            <a:off x="339968" y="977705"/>
            <a:ext cx="2553544"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可视映射：</a:t>
            </a:r>
          </a:p>
        </p:txBody>
      </p:sp>
      <p:sp>
        <p:nvSpPr>
          <p:cNvPr id="8" name="文本框 7">
            <a:extLst>
              <a:ext uri="{FF2B5EF4-FFF2-40B4-BE49-F238E27FC236}">
                <a16:creationId xmlns:a16="http://schemas.microsoft.com/office/drawing/2014/main" id="{CE6EC02F-5C5F-06C4-E436-16562B4697A9}"/>
              </a:ext>
            </a:extLst>
          </p:cNvPr>
          <p:cNvSpPr txBox="1"/>
          <p:nvPr/>
        </p:nvSpPr>
        <p:spPr>
          <a:xfrm>
            <a:off x="327441" y="1488388"/>
            <a:ext cx="6733759" cy="523220"/>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绿色</a:t>
            </a:r>
            <a:r>
              <a:rPr lang="zh-CN" altLang="en-US" sz="2800" dirty="0">
                <a:solidFill>
                  <a:srgbClr val="FF0000"/>
                </a:solidFill>
                <a:latin typeface="华文楷体" panose="02010600040101010101" pitchFamily="2" charset="-122"/>
                <a:ea typeface="华文楷体" panose="02010600040101010101" pitchFamily="2" charset="-122"/>
              </a:rPr>
              <a:t>深浅</a:t>
            </a:r>
            <a:r>
              <a:rPr lang="zh-CN" altLang="en-US" sz="2800" dirty="0">
                <a:latin typeface="华文楷体" panose="02010600040101010101" pitchFamily="2" charset="-122"/>
                <a:ea typeface="华文楷体" panose="02010600040101010101" pitchFamily="2" charset="-122"/>
              </a:rPr>
              <a:t>作为幸福度映射标准</a:t>
            </a:r>
          </a:p>
        </p:txBody>
      </p:sp>
      <p:pic>
        <p:nvPicPr>
          <p:cNvPr id="11" name="图片 10">
            <a:extLst>
              <a:ext uri="{FF2B5EF4-FFF2-40B4-BE49-F238E27FC236}">
                <a16:creationId xmlns:a16="http://schemas.microsoft.com/office/drawing/2014/main" id="{7F8B2F44-0F57-3498-8D9E-9EF2BBC972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08854" y="11599"/>
            <a:ext cx="783146" cy="769441"/>
          </a:xfrm>
          <a:prstGeom prst="rect">
            <a:avLst/>
          </a:prstGeom>
        </p:spPr>
      </p:pic>
      <p:sp>
        <p:nvSpPr>
          <p:cNvPr id="9" name="文本框 8">
            <a:extLst>
              <a:ext uri="{FF2B5EF4-FFF2-40B4-BE49-F238E27FC236}">
                <a16:creationId xmlns:a16="http://schemas.microsoft.com/office/drawing/2014/main" id="{7D1D77F7-394B-73C7-77A8-F1EC4851173D}"/>
              </a:ext>
            </a:extLst>
          </p:cNvPr>
          <p:cNvSpPr txBox="1"/>
          <p:nvPr/>
        </p:nvSpPr>
        <p:spPr>
          <a:xfrm>
            <a:off x="6668815" y="2350595"/>
            <a:ext cx="5195745" cy="1661993"/>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分析整体的分布情况</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圆形按钮用于平移，用来</a:t>
            </a:r>
            <a:r>
              <a:rPr lang="zh-CN" altLang="en-US" sz="2800" dirty="0">
                <a:solidFill>
                  <a:srgbClr val="FF0000"/>
                </a:solidFill>
                <a:latin typeface="华文楷体" panose="02010600040101010101" pitchFamily="2" charset="-122"/>
                <a:ea typeface="华文楷体" panose="02010600040101010101" pitchFamily="2" charset="-122"/>
              </a:rPr>
              <a:t>更换视觉中心</a:t>
            </a:r>
            <a:r>
              <a:rPr lang="zh-CN" altLang="en-US" sz="2800" dirty="0">
                <a:latin typeface="华文楷体" panose="02010600040101010101" pitchFamily="2" charset="-122"/>
                <a:ea typeface="华文楷体" panose="02010600040101010101" pitchFamily="2" charset="-122"/>
              </a:rPr>
              <a:t>。</a:t>
            </a:r>
          </a:p>
          <a:p>
            <a:endParaRPr lang="zh-CN" altLang="en-US" dirty="0"/>
          </a:p>
        </p:txBody>
      </p:sp>
      <p:sp>
        <p:nvSpPr>
          <p:cNvPr id="10" name="文本框 9">
            <a:extLst>
              <a:ext uri="{FF2B5EF4-FFF2-40B4-BE49-F238E27FC236}">
                <a16:creationId xmlns:a16="http://schemas.microsoft.com/office/drawing/2014/main" id="{12E1CE31-A858-CC32-54F3-16C0989059AE}"/>
              </a:ext>
            </a:extLst>
          </p:cNvPr>
          <p:cNvSpPr txBox="1"/>
          <p:nvPr/>
        </p:nvSpPr>
        <p:spPr>
          <a:xfrm>
            <a:off x="230705" y="2350595"/>
            <a:ext cx="5292482" cy="1661993"/>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具体观察一部分区域（一块大洲）</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圆形按钮用于旋转，更换需要</a:t>
            </a:r>
            <a:r>
              <a:rPr lang="zh-CN" altLang="en-US" sz="2800" dirty="0">
                <a:solidFill>
                  <a:srgbClr val="FF0000"/>
                </a:solidFill>
                <a:latin typeface="华文楷体" panose="02010600040101010101" pitchFamily="2" charset="-122"/>
                <a:ea typeface="华文楷体" panose="02010600040101010101" pitchFamily="2" charset="-122"/>
              </a:rPr>
              <a:t>细致观察</a:t>
            </a:r>
            <a:r>
              <a:rPr lang="zh-CN" altLang="en-US" sz="2800" dirty="0">
                <a:latin typeface="华文楷体" panose="02010600040101010101" pitchFamily="2" charset="-122"/>
                <a:ea typeface="华文楷体" panose="02010600040101010101" pitchFamily="2" charset="-122"/>
              </a:rPr>
              <a:t>的区域</a:t>
            </a:r>
            <a:endParaRPr lang="en-US" altLang="zh-CN" sz="2800" dirty="0">
              <a:latin typeface="华文楷体" panose="02010600040101010101" pitchFamily="2" charset="-122"/>
              <a:ea typeface="华文楷体" panose="02010600040101010101" pitchFamily="2" charset="-122"/>
            </a:endParaRPr>
          </a:p>
          <a:p>
            <a:endParaRPr lang="zh-CN" altLang="en-US" dirty="0"/>
          </a:p>
        </p:txBody>
      </p:sp>
    </p:spTree>
    <p:extLst>
      <p:ext uri="{BB962C8B-B14F-4D97-AF65-F5344CB8AC3E}">
        <p14:creationId xmlns:p14="http://schemas.microsoft.com/office/powerpoint/2010/main" val="229856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BE2B9-67E0-B1C9-BBC7-855272162CA9}"/>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8D3855FB-14CD-D586-CE84-7B2B13F2EBB3}"/>
              </a:ext>
            </a:extLst>
          </p:cNvPr>
          <p:cNvSpPr/>
          <p:nvPr/>
        </p:nvSpPr>
        <p:spPr>
          <a:xfrm rot="5400000">
            <a:off x="6122376" y="-4938346"/>
            <a:ext cx="70339" cy="11635154"/>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F44FAC2F-9A8F-C749-68D0-096EFBE29543}"/>
              </a:ext>
            </a:extLst>
          </p:cNvPr>
          <p:cNvSpPr txBox="1"/>
          <p:nvPr/>
        </p:nvSpPr>
        <p:spPr>
          <a:xfrm>
            <a:off x="5372101" y="74620"/>
            <a:ext cx="6097044" cy="769441"/>
          </a:xfrm>
          <a:prstGeom prst="rect">
            <a:avLst/>
          </a:prstGeom>
          <a:noFill/>
        </p:spPr>
        <p:txBody>
          <a:bodyPr wrap="square">
            <a:spAutoFit/>
          </a:bodyPr>
          <a:lstStyle/>
          <a:p>
            <a:r>
              <a:rPr lang="zh-CN" altLang="en-US" sz="4400" dirty="0">
                <a:latin typeface="华文楷体" panose="02010600040101010101" pitchFamily="2" charset="-122"/>
                <a:ea typeface="华文楷体" panose="02010600040101010101" pitchFamily="2" charset="-122"/>
              </a:rPr>
              <a:t>视图</a:t>
            </a:r>
            <a:r>
              <a:rPr lang="en-US" altLang="zh-CN" sz="4400" dirty="0">
                <a:latin typeface="华文楷体" panose="02010600040101010101" pitchFamily="2" charset="-122"/>
                <a:ea typeface="华文楷体" panose="02010600040101010101" pitchFamily="2" charset="-122"/>
              </a:rPr>
              <a:t>B</a:t>
            </a:r>
            <a:endParaRPr lang="zh-CN" altLang="en-US" sz="4400" dirty="0"/>
          </a:p>
        </p:txBody>
      </p:sp>
      <p:pic>
        <p:nvPicPr>
          <p:cNvPr id="3" name="图片 2">
            <a:extLst>
              <a:ext uri="{FF2B5EF4-FFF2-40B4-BE49-F238E27FC236}">
                <a16:creationId xmlns:a16="http://schemas.microsoft.com/office/drawing/2014/main" id="{A061C55E-2E04-2D98-DBFD-6B5142D573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08854" y="11599"/>
            <a:ext cx="783146" cy="769441"/>
          </a:xfrm>
          <a:prstGeom prst="rect">
            <a:avLst/>
          </a:prstGeom>
        </p:spPr>
      </p:pic>
      <p:sp>
        <p:nvSpPr>
          <p:cNvPr id="16" name="文本框 15">
            <a:extLst>
              <a:ext uri="{FF2B5EF4-FFF2-40B4-BE49-F238E27FC236}">
                <a16:creationId xmlns:a16="http://schemas.microsoft.com/office/drawing/2014/main" id="{2E87A0D1-44FE-C7F7-1F7F-AEB2ED34ABAC}"/>
              </a:ext>
            </a:extLst>
          </p:cNvPr>
          <p:cNvSpPr txBox="1"/>
          <p:nvPr/>
        </p:nvSpPr>
        <p:spPr>
          <a:xfrm>
            <a:off x="462490" y="977422"/>
            <a:ext cx="11390110" cy="2246769"/>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采用</a:t>
            </a:r>
            <a:r>
              <a:rPr lang="zh-CN" altLang="en-US" sz="2800" dirty="0">
                <a:solidFill>
                  <a:srgbClr val="FF0000"/>
                </a:solidFill>
                <a:latin typeface="华文楷体" panose="02010600040101010101" pitchFamily="2" charset="-122"/>
                <a:ea typeface="华文楷体" panose="02010600040101010101" pitchFamily="2" charset="-122"/>
              </a:rPr>
              <a:t>平行坐标</a:t>
            </a:r>
            <a:r>
              <a:rPr lang="zh-CN" altLang="en-US" sz="2800" dirty="0">
                <a:latin typeface="华文楷体" panose="02010600040101010101" pitchFamily="2" charset="-122"/>
                <a:ea typeface="华文楷体" panose="02010600040101010101" pitchFamily="2" charset="-122"/>
              </a:rPr>
              <a:t>，更加清晰地观察不同特征对幸福指数的影响与各指数之间的相互影响。</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交换列：</a:t>
            </a:r>
            <a:r>
              <a:rPr lang="zh-CN" altLang="en-US" sz="2800" dirty="0">
                <a:solidFill>
                  <a:srgbClr val="FF0000"/>
                </a:solidFill>
                <a:latin typeface="华文楷体" panose="02010600040101010101" pitchFamily="2" charset="-122"/>
                <a:ea typeface="华文楷体" panose="02010600040101010101" pitchFamily="2" charset="-122"/>
              </a:rPr>
              <a:t>手动调整</a:t>
            </a:r>
            <a:r>
              <a:rPr lang="zh-CN" altLang="en-US" sz="2800" dirty="0">
                <a:latin typeface="华文楷体" panose="02010600040101010101" pitchFamily="2" charset="-122"/>
                <a:ea typeface="华文楷体" panose="02010600040101010101" pitchFamily="2" charset="-122"/>
              </a:rPr>
              <a:t>各因素的</a:t>
            </a:r>
            <a:r>
              <a:rPr lang="zh-CN" altLang="en-US" sz="2800" dirty="0">
                <a:solidFill>
                  <a:srgbClr val="FF0000"/>
                </a:solidFill>
                <a:latin typeface="华文楷体" panose="02010600040101010101" pitchFamily="2" charset="-122"/>
                <a:ea typeface="华文楷体" panose="02010600040101010101" pitchFamily="2" charset="-122"/>
              </a:rPr>
              <a:t>相对位置</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筛选按钮：对因素进行选择，选出该因素中的</a:t>
            </a:r>
            <a:r>
              <a:rPr lang="zh-CN" altLang="en-US" sz="2800" dirty="0">
                <a:solidFill>
                  <a:srgbClr val="FF0000"/>
                </a:solidFill>
                <a:latin typeface="华文楷体" panose="02010600040101010101" pitchFamily="2" charset="-122"/>
                <a:ea typeface="华文楷体" panose="02010600040101010101" pitchFamily="2" charset="-122"/>
              </a:rPr>
              <a:t>前百分之四十</a:t>
            </a:r>
            <a:r>
              <a:rPr lang="zh-CN" altLang="en-US" sz="2800" dirty="0">
                <a:latin typeface="华文楷体" panose="02010600040101010101" pitchFamily="2" charset="-122"/>
                <a:ea typeface="华文楷体" panose="02010600040101010101" pitchFamily="2" charset="-122"/>
              </a:rPr>
              <a:t>的国家。</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多选模式：选择多个国家</a:t>
            </a:r>
            <a:r>
              <a:rPr lang="zh-CN" altLang="en-US" sz="2800" dirty="0">
                <a:solidFill>
                  <a:srgbClr val="FF0000"/>
                </a:solidFill>
                <a:latin typeface="华文楷体" panose="02010600040101010101" pitchFamily="2" charset="-122"/>
                <a:ea typeface="华文楷体" panose="02010600040101010101" pitchFamily="2" charset="-122"/>
              </a:rPr>
              <a:t>高亮显示</a:t>
            </a:r>
            <a:r>
              <a:rPr lang="zh-CN" altLang="en-US" sz="2800" dirty="0">
                <a:latin typeface="华文楷体" panose="02010600040101010101" pitchFamily="2" charset="-122"/>
                <a:ea typeface="华文楷体" panose="02010600040101010101" pitchFamily="2" charset="-122"/>
              </a:rPr>
              <a:t>，分析其他因素情况。</a:t>
            </a:r>
          </a:p>
        </p:txBody>
      </p:sp>
      <p:pic>
        <p:nvPicPr>
          <p:cNvPr id="6" name="图片 5">
            <a:extLst>
              <a:ext uri="{FF2B5EF4-FFF2-40B4-BE49-F238E27FC236}">
                <a16:creationId xmlns:a16="http://schemas.microsoft.com/office/drawing/2014/main" id="{02AC2031-B515-57B1-10AF-4406D3EDF5AD}"/>
              </a:ext>
            </a:extLst>
          </p:cNvPr>
          <p:cNvPicPr>
            <a:picLocks noChangeAspect="1"/>
          </p:cNvPicPr>
          <p:nvPr/>
        </p:nvPicPr>
        <p:blipFill>
          <a:blip r:embed="rId4"/>
          <a:stretch>
            <a:fillRect/>
          </a:stretch>
        </p:blipFill>
        <p:spPr>
          <a:xfrm>
            <a:off x="6244220" y="3429000"/>
            <a:ext cx="5730903" cy="3214897"/>
          </a:xfrm>
          <a:prstGeom prst="rect">
            <a:avLst/>
          </a:prstGeom>
        </p:spPr>
      </p:pic>
      <p:pic>
        <p:nvPicPr>
          <p:cNvPr id="8" name="图片 7">
            <a:extLst>
              <a:ext uri="{FF2B5EF4-FFF2-40B4-BE49-F238E27FC236}">
                <a16:creationId xmlns:a16="http://schemas.microsoft.com/office/drawing/2014/main" id="{6A1C7F99-B7E0-8377-3365-080DFBF01174}"/>
              </a:ext>
            </a:extLst>
          </p:cNvPr>
          <p:cNvPicPr>
            <a:picLocks noChangeAspect="1"/>
          </p:cNvPicPr>
          <p:nvPr/>
        </p:nvPicPr>
        <p:blipFill>
          <a:blip r:embed="rId5"/>
          <a:stretch>
            <a:fillRect/>
          </a:stretch>
        </p:blipFill>
        <p:spPr>
          <a:xfrm>
            <a:off x="287045" y="3429000"/>
            <a:ext cx="5730903" cy="3216592"/>
          </a:xfrm>
          <a:prstGeom prst="rect">
            <a:avLst/>
          </a:prstGeom>
        </p:spPr>
      </p:pic>
    </p:spTree>
    <p:extLst>
      <p:ext uri="{BB962C8B-B14F-4D97-AF65-F5344CB8AC3E}">
        <p14:creationId xmlns:p14="http://schemas.microsoft.com/office/powerpoint/2010/main" val="4227173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75334-65EB-379B-786B-A52B910E45AF}"/>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64C80016-EBB2-F513-C388-20A656C7F9D1}"/>
              </a:ext>
            </a:extLst>
          </p:cNvPr>
          <p:cNvSpPr/>
          <p:nvPr/>
        </p:nvSpPr>
        <p:spPr>
          <a:xfrm rot="5400000">
            <a:off x="6122376" y="-4938346"/>
            <a:ext cx="70339" cy="11635154"/>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8965B413-1E3A-7A9E-C6CB-0F216017E0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08854" y="11599"/>
            <a:ext cx="783146" cy="769441"/>
          </a:xfrm>
          <a:prstGeom prst="rect">
            <a:avLst/>
          </a:prstGeom>
        </p:spPr>
      </p:pic>
      <p:sp>
        <p:nvSpPr>
          <p:cNvPr id="4" name="文本框 3">
            <a:extLst>
              <a:ext uri="{FF2B5EF4-FFF2-40B4-BE49-F238E27FC236}">
                <a16:creationId xmlns:a16="http://schemas.microsoft.com/office/drawing/2014/main" id="{1CF415FE-6036-A4EB-4FF2-43A589FFAF94}"/>
              </a:ext>
            </a:extLst>
          </p:cNvPr>
          <p:cNvSpPr txBox="1"/>
          <p:nvPr/>
        </p:nvSpPr>
        <p:spPr>
          <a:xfrm>
            <a:off x="5118185" y="74620"/>
            <a:ext cx="2595914" cy="769441"/>
          </a:xfrm>
          <a:prstGeom prst="rect">
            <a:avLst/>
          </a:prstGeom>
          <a:noFill/>
        </p:spPr>
        <p:txBody>
          <a:bodyPr wrap="square" rtlCol="0">
            <a:spAutoFit/>
          </a:bodyPr>
          <a:lstStyle/>
          <a:p>
            <a:r>
              <a:rPr lang="zh-CN" altLang="en-US" sz="4400" dirty="0">
                <a:latin typeface="华文楷体" panose="02010600040101010101" pitchFamily="2" charset="-122"/>
                <a:ea typeface="华文楷体" panose="02010600040101010101" pitchFamily="2" charset="-122"/>
              </a:rPr>
              <a:t>视图</a:t>
            </a:r>
            <a:r>
              <a:rPr lang="en-US" altLang="zh-CN" sz="4400" dirty="0">
                <a:latin typeface="华文楷体" panose="02010600040101010101" pitchFamily="2" charset="-122"/>
                <a:ea typeface="华文楷体" panose="02010600040101010101" pitchFamily="2" charset="-122"/>
              </a:rPr>
              <a:t>C</a:t>
            </a:r>
            <a:endParaRPr lang="zh-CN" altLang="en-US" sz="4400" dirty="0">
              <a:latin typeface="华文楷体" panose="02010600040101010101" pitchFamily="2" charset="-122"/>
              <a:ea typeface="华文楷体" panose="02010600040101010101" pitchFamily="2" charset="-122"/>
            </a:endParaRPr>
          </a:p>
        </p:txBody>
      </p:sp>
      <p:sp>
        <p:nvSpPr>
          <p:cNvPr id="5" name="文本框 4">
            <a:extLst>
              <a:ext uri="{FF2B5EF4-FFF2-40B4-BE49-F238E27FC236}">
                <a16:creationId xmlns:a16="http://schemas.microsoft.com/office/drawing/2014/main" id="{FE722B16-8732-9694-5C32-1C33D40ACD98}"/>
              </a:ext>
            </a:extLst>
          </p:cNvPr>
          <p:cNvSpPr txBox="1"/>
          <p:nvPr/>
        </p:nvSpPr>
        <p:spPr>
          <a:xfrm>
            <a:off x="466405" y="1153740"/>
            <a:ext cx="11390110" cy="954107"/>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使用</a:t>
            </a:r>
            <a:r>
              <a:rPr lang="zh-CN" altLang="en-US" sz="2800" dirty="0">
                <a:solidFill>
                  <a:srgbClr val="FF0000"/>
                </a:solidFill>
                <a:latin typeface="华文楷体" panose="02010600040101010101" pitchFamily="2" charset="-122"/>
                <a:ea typeface="华文楷体" panose="02010600040101010101" pitchFamily="2" charset="-122"/>
              </a:rPr>
              <a:t>折线图</a:t>
            </a:r>
            <a:r>
              <a:rPr lang="zh-CN" altLang="en-US" sz="2800" dirty="0">
                <a:latin typeface="华文楷体" panose="02010600040101010101" pitchFamily="2" charset="-122"/>
                <a:ea typeface="华文楷体" panose="02010600040101010101" pitchFamily="2" charset="-122"/>
              </a:rPr>
              <a:t>展示</a:t>
            </a:r>
            <a:r>
              <a:rPr lang="zh-CN" altLang="en-US" sz="2800" dirty="0">
                <a:solidFill>
                  <a:srgbClr val="FF0000"/>
                </a:solidFill>
                <a:latin typeface="华文楷体" panose="02010600040101010101" pitchFamily="2" charset="-122"/>
                <a:ea typeface="华文楷体" panose="02010600040101010101" pitchFamily="2" charset="-122"/>
              </a:rPr>
              <a:t>选定国家</a:t>
            </a:r>
            <a:r>
              <a:rPr lang="zh-CN" altLang="en-US" sz="2800" dirty="0">
                <a:latin typeface="华文楷体" panose="02010600040101010101" pitchFamily="2" charset="-122"/>
                <a:ea typeface="华文楷体" panose="02010600040101010101" pitchFamily="2" charset="-122"/>
              </a:rPr>
              <a:t>（一次最多</a:t>
            </a:r>
            <a:r>
              <a:rPr lang="en-US" altLang="zh-CN" sz="2800" dirty="0">
                <a:latin typeface="华文楷体" panose="02010600040101010101" pitchFamily="2" charset="-122"/>
                <a:ea typeface="华文楷体" panose="02010600040101010101" pitchFamily="2" charset="-122"/>
              </a:rPr>
              <a:t>3</a:t>
            </a:r>
            <a:r>
              <a:rPr lang="zh-CN" altLang="en-US" sz="2800" dirty="0">
                <a:latin typeface="华文楷体" panose="02010600040101010101" pitchFamily="2" charset="-122"/>
                <a:ea typeface="华文楷体" panose="02010600040101010101" pitchFamily="2" charset="-122"/>
              </a:rPr>
              <a:t>个）近几年的</a:t>
            </a:r>
            <a:r>
              <a:rPr lang="en-US" altLang="zh-CN" sz="2800" dirty="0">
                <a:latin typeface="华文楷体" panose="02010600040101010101" pitchFamily="2" charset="-122"/>
                <a:ea typeface="华文楷体" panose="02010600040101010101" pitchFamily="2" charset="-122"/>
              </a:rPr>
              <a:t>Happiness</a:t>
            </a:r>
            <a:r>
              <a:rPr lang="zh-CN" altLang="en-US" sz="2800" dirty="0">
                <a:latin typeface="华文楷体" panose="02010600040101010101" pitchFamily="2" charset="-122"/>
                <a:ea typeface="华文楷体" panose="02010600040101010101" pitchFamily="2" charset="-122"/>
              </a:rPr>
              <a:t>变化情况。</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对之后几年进行</a:t>
            </a:r>
            <a:r>
              <a:rPr lang="zh-CN" altLang="en-US" sz="2800" dirty="0">
                <a:solidFill>
                  <a:srgbClr val="FF0000"/>
                </a:solidFill>
                <a:latin typeface="华文楷体" panose="02010600040101010101" pitchFamily="2" charset="-122"/>
                <a:ea typeface="华文楷体" panose="02010600040101010101" pitchFamily="2" charset="-122"/>
              </a:rPr>
              <a:t>预测</a:t>
            </a:r>
            <a:r>
              <a:rPr lang="zh-CN" altLang="en-US" sz="2800" dirty="0">
                <a:latin typeface="华文楷体" panose="02010600040101010101" pitchFamily="2" charset="-122"/>
                <a:ea typeface="华文楷体" panose="02010600040101010101" pitchFamily="2" charset="-122"/>
              </a:rPr>
              <a:t>（虚线部分），并展示其在</a:t>
            </a:r>
            <a:r>
              <a:rPr lang="zh-CN" altLang="en-US" sz="2800" dirty="0">
                <a:solidFill>
                  <a:srgbClr val="FF0000"/>
                </a:solidFill>
                <a:latin typeface="华文楷体" panose="02010600040101010101" pitchFamily="2" charset="-122"/>
                <a:ea typeface="华文楷体" panose="02010600040101010101" pitchFamily="2" charset="-122"/>
              </a:rPr>
              <a:t>所有国家</a:t>
            </a:r>
            <a:r>
              <a:rPr lang="zh-CN" altLang="en-US" sz="2800" dirty="0">
                <a:latin typeface="华文楷体" panose="02010600040101010101" pitchFamily="2" charset="-122"/>
                <a:ea typeface="华文楷体" panose="02010600040101010101" pitchFamily="2" charset="-122"/>
              </a:rPr>
              <a:t>中的水平。</a:t>
            </a:r>
          </a:p>
        </p:txBody>
      </p:sp>
      <p:pic>
        <p:nvPicPr>
          <p:cNvPr id="8" name="图片 7">
            <a:extLst>
              <a:ext uri="{FF2B5EF4-FFF2-40B4-BE49-F238E27FC236}">
                <a16:creationId xmlns:a16="http://schemas.microsoft.com/office/drawing/2014/main" id="{B6BA300F-2FE5-570B-1455-CE5EBC5ADAD7}"/>
              </a:ext>
            </a:extLst>
          </p:cNvPr>
          <p:cNvPicPr>
            <a:picLocks noChangeAspect="1"/>
          </p:cNvPicPr>
          <p:nvPr/>
        </p:nvPicPr>
        <p:blipFill>
          <a:blip r:embed="rId4"/>
          <a:stretch>
            <a:fillRect/>
          </a:stretch>
        </p:blipFill>
        <p:spPr>
          <a:xfrm>
            <a:off x="2163526" y="2778074"/>
            <a:ext cx="7864948" cy="3533949"/>
          </a:xfrm>
          <a:prstGeom prst="rect">
            <a:avLst/>
          </a:prstGeom>
        </p:spPr>
      </p:pic>
    </p:spTree>
    <p:extLst>
      <p:ext uri="{BB962C8B-B14F-4D97-AF65-F5344CB8AC3E}">
        <p14:creationId xmlns:p14="http://schemas.microsoft.com/office/powerpoint/2010/main" val="4172827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B72C9-F6A3-1608-5536-904F27796B64}"/>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C0A1699-AD1D-8F76-DFA3-08DA24D305CA}"/>
              </a:ext>
            </a:extLst>
          </p:cNvPr>
          <p:cNvSpPr/>
          <p:nvPr/>
        </p:nvSpPr>
        <p:spPr>
          <a:xfrm rot="5400000">
            <a:off x="6122376" y="-4938346"/>
            <a:ext cx="70339" cy="11635154"/>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6D7657E4-7F7B-9ADD-7249-B1FCA79502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08854" y="11599"/>
            <a:ext cx="783146" cy="769441"/>
          </a:xfrm>
          <a:prstGeom prst="rect">
            <a:avLst/>
          </a:prstGeom>
        </p:spPr>
      </p:pic>
      <p:sp>
        <p:nvSpPr>
          <p:cNvPr id="4" name="文本框 3">
            <a:extLst>
              <a:ext uri="{FF2B5EF4-FFF2-40B4-BE49-F238E27FC236}">
                <a16:creationId xmlns:a16="http://schemas.microsoft.com/office/drawing/2014/main" id="{4BC0F4BC-B788-192C-FA28-F8959E2152BE}"/>
              </a:ext>
            </a:extLst>
          </p:cNvPr>
          <p:cNvSpPr txBox="1"/>
          <p:nvPr/>
        </p:nvSpPr>
        <p:spPr>
          <a:xfrm>
            <a:off x="466405" y="1153740"/>
            <a:ext cx="11390110" cy="1938992"/>
          </a:xfrm>
          <a:prstGeom prst="rect">
            <a:avLst/>
          </a:prstGeom>
          <a:noFill/>
        </p:spPr>
        <p:txBody>
          <a:bodyPr wrap="square" rtlCol="0">
            <a:spAutoFit/>
          </a:bodyPr>
          <a:lstStyle/>
          <a:p>
            <a:r>
              <a:rPr lang="zh-CN" altLang="en-US" sz="2400" dirty="0">
                <a:latin typeface="华文楷体" panose="02010600040101010101" pitchFamily="2" charset="-122"/>
                <a:ea typeface="华文楷体" panose="02010600040101010101" pitchFamily="2" charset="-122"/>
              </a:rPr>
              <a:t>地图</a:t>
            </a:r>
            <a:r>
              <a:rPr lang="en-US" altLang="zh-CN" sz="2400" dirty="0">
                <a:latin typeface="华文楷体" panose="02010600040101010101" pitchFamily="2" charset="-122"/>
                <a:ea typeface="华文楷体" panose="02010600040101010101" pitchFamily="2" charset="-122"/>
              </a:rPr>
              <a:t>A</a:t>
            </a:r>
            <a:r>
              <a:rPr lang="zh-CN" altLang="en-US" sz="2400" dirty="0">
                <a:latin typeface="华文楷体" panose="02010600040101010101" pitchFamily="2" charset="-122"/>
                <a:ea typeface="华文楷体" panose="02010600040101010101" pitchFamily="2" charset="-122"/>
              </a:rPr>
              <a:t>：</a:t>
            </a:r>
            <a:r>
              <a:rPr lang="zh-CN" altLang="en-US" sz="2400" dirty="0">
                <a:solidFill>
                  <a:srgbClr val="FF0000"/>
                </a:solidFill>
                <a:latin typeface="华文楷体" panose="02010600040101010101" pitchFamily="2" charset="-122"/>
                <a:ea typeface="华文楷体" panose="02010600040101010101" pitchFamily="2" charset="-122"/>
              </a:rPr>
              <a:t>自动旋转</a:t>
            </a:r>
            <a:r>
              <a:rPr lang="zh-CN" altLang="en-US" sz="2400" dirty="0">
                <a:latin typeface="华文楷体" panose="02010600040101010101" pitchFamily="2" charset="-122"/>
                <a:ea typeface="华文楷体" panose="02010600040101010101" pitchFamily="2" charset="-122"/>
              </a:rPr>
              <a:t>，</a:t>
            </a:r>
            <a:r>
              <a:rPr lang="zh-CN" altLang="en-US" sz="2400" dirty="0">
                <a:solidFill>
                  <a:srgbClr val="FF0000"/>
                </a:solidFill>
                <a:latin typeface="华文楷体" panose="02010600040101010101" pitchFamily="2" charset="-122"/>
                <a:ea typeface="华文楷体" panose="02010600040101010101" pitchFamily="2" charset="-122"/>
              </a:rPr>
              <a:t>视图切换</a:t>
            </a:r>
            <a:r>
              <a:rPr lang="zh-CN" altLang="en-US" sz="2400" dirty="0">
                <a:latin typeface="华文楷体" panose="02010600040101010101" pitchFamily="2" charset="-122"/>
                <a:ea typeface="华文楷体" panose="02010600040101010101" pitchFamily="2" charset="-122"/>
              </a:rPr>
              <a:t>和</a:t>
            </a:r>
            <a:r>
              <a:rPr lang="zh-CN" altLang="en-US" sz="2400" dirty="0">
                <a:solidFill>
                  <a:srgbClr val="FF0000"/>
                </a:solidFill>
                <a:latin typeface="华文楷体" panose="02010600040101010101" pitchFamily="2" charset="-122"/>
                <a:ea typeface="华文楷体" panose="02010600040101010101" pitchFamily="2" charset="-122"/>
              </a:rPr>
              <a:t>手动调整位置</a:t>
            </a:r>
            <a:endParaRPr lang="en-US" altLang="zh-CN" sz="2400" dirty="0">
              <a:solidFill>
                <a:srgbClr val="FF0000"/>
              </a:solidFill>
              <a:latin typeface="华文楷体" panose="02010600040101010101" pitchFamily="2" charset="-122"/>
              <a:ea typeface="华文楷体" panose="02010600040101010101" pitchFamily="2" charset="-122"/>
            </a:endParaRPr>
          </a:p>
          <a:p>
            <a:r>
              <a:rPr lang="en-US" altLang="zh-CN" sz="2400" dirty="0">
                <a:solidFill>
                  <a:srgbClr val="FF0000"/>
                </a:solidFill>
                <a:latin typeface="华文楷体" panose="02010600040101010101" pitchFamily="2" charset="-122"/>
                <a:ea typeface="华文楷体" panose="02010600040101010101" pitchFamily="2" charset="-122"/>
              </a:rPr>
              <a:t>	   </a:t>
            </a:r>
            <a:r>
              <a:rPr lang="zh-CN" altLang="en-US" sz="2400" dirty="0">
                <a:solidFill>
                  <a:srgbClr val="FF0000"/>
                </a:solidFill>
                <a:latin typeface="华文楷体" panose="02010600040101010101" pitchFamily="2" charset="-122"/>
                <a:ea typeface="华文楷体" panose="02010600040101010101" pitchFamily="2" charset="-122"/>
              </a:rPr>
              <a:t>悬停显示</a:t>
            </a:r>
            <a:r>
              <a:rPr lang="zh-CN" altLang="en-US" sz="2400" dirty="0">
                <a:latin typeface="华文楷体" panose="02010600040101010101" pitchFamily="2" charset="-122"/>
                <a:ea typeface="华文楷体" panose="02010600040101010101" pitchFamily="2" charset="-122"/>
              </a:rPr>
              <a:t>国家名称和对应的幸福指数。</a:t>
            </a:r>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图表</a:t>
            </a:r>
            <a:r>
              <a:rPr lang="en-US" altLang="zh-CN" sz="2400" dirty="0">
                <a:latin typeface="华文楷体" panose="02010600040101010101" pitchFamily="2" charset="-122"/>
                <a:ea typeface="华文楷体" panose="02010600040101010101" pitchFamily="2" charset="-122"/>
              </a:rPr>
              <a:t>B</a:t>
            </a:r>
            <a:r>
              <a:rPr lang="zh-CN" altLang="en-US" sz="2400" dirty="0">
                <a:latin typeface="华文楷体" panose="02010600040101010101" pitchFamily="2" charset="-122"/>
                <a:ea typeface="华文楷体" panose="02010600040101010101" pitchFamily="2" charset="-122"/>
              </a:rPr>
              <a:t>：</a:t>
            </a:r>
            <a:r>
              <a:rPr lang="zh-CN" altLang="en-US" sz="2400" dirty="0">
                <a:solidFill>
                  <a:srgbClr val="FF0000"/>
                </a:solidFill>
                <a:latin typeface="华文楷体" panose="02010600040101010101" pitchFamily="2" charset="-122"/>
                <a:ea typeface="华文楷体" panose="02010600040101010101" pitchFamily="2" charset="-122"/>
              </a:rPr>
              <a:t>筛选显示</a:t>
            </a:r>
            <a:r>
              <a:rPr lang="zh-CN" altLang="en-US" sz="2400" dirty="0">
                <a:latin typeface="华文楷体" panose="02010600040101010101" pitchFamily="2" charset="-122"/>
                <a:ea typeface="华文楷体" panose="02010600040101010101" pitchFamily="2" charset="-122"/>
              </a:rPr>
              <a:t>占比靠前的国家、</a:t>
            </a:r>
            <a:r>
              <a:rPr lang="zh-CN" altLang="en-US" sz="2400" dirty="0">
                <a:solidFill>
                  <a:srgbClr val="FF0000"/>
                </a:solidFill>
                <a:latin typeface="华文楷体" panose="02010600040101010101" pitchFamily="2" charset="-122"/>
                <a:ea typeface="华文楷体" panose="02010600040101010101" pitchFamily="2" charset="-122"/>
              </a:rPr>
              <a:t>同一地域</a:t>
            </a:r>
            <a:r>
              <a:rPr lang="zh-CN" altLang="en-US" sz="2400" dirty="0">
                <a:latin typeface="华文楷体" panose="02010600040101010101" pitchFamily="2" charset="-122"/>
                <a:ea typeface="华文楷体" panose="02010600040101010101" pitchFamily="2" charset="-122"/>
              </a:rPr>
              <a:t>的国家</a:t>
            </a:r>
            <a:endParaRPr lang="en-US" altLang="zh-CN"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多选模式下同时</a:t>
            </a:r>
            <a:r>
              <a:rPr lang="zh-CN" altLang="en-US" sz="2400" dirty="0">
                <a:solidFill>
                  <a:srgbClr val="FF0000"/>
                </a:solidFill>
                <a:latin typeface="华文楷体" panose="02010600040101010101" pitchFamily="2" charset="-122"/>
                <a:ea typeface="华文楷体" panose="02010600040101010101" pitchFamily="2" charset="-122"/>
              </a:rPr>
              <a:t>高亮显示</a:t>
            </a:r>
            <a:r>
              <a:rPr lang="zh-CN" altLang="en-US" sz="2400" dirty="0">
                <a:latin typeface="华文楷体" panose="02010600040101010101" pitchFamily="2" charset="-122"/>
                <a:ea typeface="华文楷体" panose="02010600040101010101" pitchFamily="2" charset="-122"/>
              </a:rPr>
              <a:t>，比较多个国家的多方面数据</a:t>
            </a:r>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图表</a:t>
            </a:r>
            <a:r>
              <a:rPr lang="en-US" altLang="zh-CN" sz="2400" dirty="0">
                <a:latin typeface="华文楷体" panose="02010600040101010101" pitchFamily="2" charset="-122"/>
                <a:ea typeface="华文楷体" panose="02010600040101010101" pitchFamily="2" charset="-122"/>
              </a:rPr>
              <a:t>C</a:t>
            </a:r>
            <a:r>
              <a:rPr lang="zh-CN" altLang="en-US" sz="2400" dirty="0">
                <a:latin typeface="华文楷体" panose="02010600040101010101" pitchFamily="2" charset="-122"/>
                <a:ea typeface="华文楷体" panose="02010600040101010101" pitchFamily="2" charset="-122"/>
              </a:rPr>
              <a:t>：</a:t>
            </a:r>
            <a:r>
              <a:rPr lang="zh-CN" altLang="en-US" sz="2400" dirty="0">
                <a:solidFill>
                  <a:srgbClr val="FF0000"/>
                </a:solidFill>
                <a:latin typeface="华文楷体" panose="02010600040101010101" pitchFamily="2" charset="-122"/>
                <a:ea typeface="华文楷体" panose="02010600040101010101" pitchFamily="2" charset="-122"/>
              </a:rPr>
              <a:t>动画</a:t>
            </a:r>
            <a:r>
              <a:rPr lang="zh-CN" altLang="en-US" sz="2400" dirty="0">
                <a:latin typeface="华文楷体" panose="02010600040101010101" pitchFamily="2" charset="-122"/>
                <a:ea typeface="华文楷体" panose="02010600040101010101" pitchFamily="2" charset="-122"/>
              </a:rPr>
              <a:t>展示变化过程，</a:t>
            </a:r>
            <a:r>
              <a:rPr lang="zh-CN" altLang="en-US" sz="2400" dirty="0">
                <a:solidFill>
                  <a:srgbClr val="FF0000"/>
                </a:solidFill>
                <a:latin typeface="华文楷体" panose="02010600040101010101" pitchFamily="2" charset="-122"/>
                <a:ea typeface="华文楷体" panose="02010600040101010101" pitchFamily="2" charset="-122"/>
              </a:rPr>
              <a:t>预测虚线</a:t>
            </a:r>
            <a:r>
              <a:rPr lang="zh-CN" altLang="en-US" sz="2400" dirty="0">
                <a:latin typeface="华文楷体" panose="02010600040101010101" pitchFamily="2" charset="-122"/>
                <a:ea typeface="华文楷体" panose="02010600040101010101" pitchFamily="2" charset="-122"/>
              </a:rPr>
              <a:t>展现变化趋势</a:t>
            </a:r>
          </a:p>
        </p:txBody>
      </p:sp>
      <p:sp>
        <p:nvSpPr>
          <p:cNvPr id="6" name="文本框 5">
            <a:extLst>
              <a:ext uri="{FF2B5EF4-FFF2-40B4-BE49-F238E27FC236}">
                <a16:creationId xmlns:a16="http://schemas.microsoft.com/office/drawing/2014/main" id="{75D6113B-3A30-1A4C-9D28-1F10507166C7}"/>
              </a:ext>
            </a:extLst>
          </p:cNvPr>
          <p:cNvSpPr txBox="1"/>
          <p:nvPr/>
        </p:nvSpPr>
        <p:spPr>
          <a:xfrm>
            <a:off x="4529042" y="133663"/>
            <a:ext cx="2809683" cy="769441"/>
          </a:xfrm>
          <a:prstGeom prst="rect">
            <a:avLst/>
          </a:prstGeom>
          <a:noFill/>
        </p:spPr>
        <p:txBody>
          <a:bodyPr wrap="square" rtlCol="0">
            <a:spAutoFit/>
          </a:bodyPr>
          <a:lstStyle/>
          <a:p>
            <a:r>
              <a:rPr lang="zh-CN" altLang="en-US" sz="4400" dirty="0">
                <a:latin typeface="华文楷体" panose="02010600040101010101" pitchFamily="2" charset="-122"/>
                <a:ea typeface="华文楷体" panose="02010600040101010101" pitchFamily="2" charset="-122"/>
              </a:rPr>
              <a:t>交互设计</a:t>
            </a:r>
            <a:r>
              <a:rPr lang="en-US" altLang="zh-CN" sz="4400" dirty="0">
                <a:latin typeface="华文楷体" panose="02010600040101010101" pitchFamily="2" charset="-122"/>
                <a:ea typeface="华文楷体" panose="02010600040101010101" pitchFamily="2" charset="-122"/>
              </a:rPr>
              <a:t>1</a:t>
            </a:r>
            <a:endParaRPr lang="zh-CN" altLang="en-US" sz="4400" dirty="0">
              <a:latin typeface="华文楷体" panose="02010600040101010101" pitchFamily="2" charset="-122"/>
              <a:ea typeface="华文楷体" panose="02010600040101010101" pitchFamily="2" charset="-122"/>
            </a:endParaRPr>
          </a:p>
        </p:txBody>
      </p:sp>
      <p:pic>
        <p:nvPicPr>
          <p:cNvPr id="7" name="图片 6">
            <a:extLst>
              <a:ext uri="{FF2B5EF4-FFF2-40B4-BE49-F238E27FC236}">
                <a16:creationId xmlns:a16="http://schemas.microsoft.com/office/drawing/2014/main" id="{5E2DEDC7-35B3-4F61-F82D-7E831DAE796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997359" y="3834472"/>
            <a:ext cx="5873048" cy="2685679"/>
          </a:xfrm>
          <a:prstGeom prst="rect">
            <a:avLst/>
          </a:prstGeom>
        </p:spPr>
      </p:pic>
    </p:spTree>
    <p:extLst>
      <p:ext uri="{BB962C8B-B14F-4D97-AF65-F5344CB8AC3E}">
        <p14:creationId xmlns:p14="http://schemas.microsoft.com/office/powerpoint/2010/main" val="3512239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200" fill="hold"/>
                                        <p:tgtEl>
                                          <p:spTgt spid="7"/>
                                        </p:tgtEl>
                                        <p:attrNameLst>
                                          <p:attrName>ppt_x</p:attrName>
                                        </p:attrNameLst>
                                      </p:cBhvr>
                                      <p:tavLst>
                                        <p:tav tm="0">
                                          <p:val>
                                            <p:strVal val="#ppt_x"/>
                                          </p:val>
                                        </p:tav>
                                        <p:tav tm="100000">
                                          <p:val>
                                            <p:strVal val="#ppt_x"/>
                                          </p:val>
                                        </p:tav>
                                      </p:tavLst>
                                    </p:anim>
                                    <p:anim calcmode="lin" valueType="num">
                                      <p:cBhvr additive="base">
                                        <p:cTn id="8" dur="2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EF8C5-9CF5-E1B9-7A46-914EA6F9A9AD}"/>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B91DBB40-1F6F-D022-EC06-0C615E3E0FF0}"/>
              </a:ext>
            </a:extLst>
          </p:cNvPr>
          <p:cNvSpPr/>
          <p:nvPr/>
        </p:nvSpPr>
        <p:spPr>
          <a:xfrm rot="5400000">
            <a:off x="6122376" y="-4938346"/>
            <a:ext cx="70339" cy="11635154"/>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C5D7B30B-A33C-CB60-CF40-E8D0A2F235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08854" y="11599"/>
            <a:ext cx="783146" cy="769441"/>
          </a:xfrm>
          <a:prstGeom prst="rect">
            <a:avLst/>
          </a:prstGeom>
        </p:spPr>
      </p:pic>
      <p:sp>
        <p:nvSpPr>
          <p:cNvPr id="4" name="文本框 3">
            <a:extLst>
              <a:ext uri="{FF2B5EF4-FFF2-40B4-BE49-F238E27FC236}">
                <a16:creationId xmlns:a16="http://schemas.microsoft.com/office/drawing/2014/main" id="{E8C89124-BC58-C51F-E894-D708AA5A4D2F}"/>
              </a:ext>
            </a:extLst>
          </p:cNvPr>
          <p:cNvSpPr txBox="1"/>
          <p:nvPr/>
        </p:nvSpPr>
        <p:spPr>
          <a:xfrm>
            <a:off x="281461" y="977422"/>
            <a:ext cx="11629078" cy="1569660"/>
          </a:xfrm>
          <a:prstGeom prst="rect">
            <a:avLst/>
          </a:prstGeom>
          <a:noFill/>
        </p:spPr>
        <p:txBody>
          <a:bodyPr wrap="square" rtlCol="0">
            <a:spAutoFit/>
          </a:bodyPr>
          <a:lstStyle/>
          <a:p>
            <a:r>
              <a:rPr lang="zh-CN" altLang="en-US" sz="2400" dirty="0">
                <a:solidFill>
                  <a:srgbClr val="FF0000"/>
                </a:solidFill>
                <a:latin typeface="华文楷体" panose="02010600040101010101" pitchFamily="2" charset="-122"/>
                <a:ea typeface="华文楷体" panose="02010600040101010101" pitchFamily="2" charset="-122"/>
              </a:rPr>
              <a:t>三图联动</a:t>
            </a:r>
            <a:r>
              <a:rPr lang="zh-CN" altLang="en-US" sz="2400" dirty="0">
                <a:latin typeface="华文楷体" panose="02010600040101010101" pitchFamily="2" charset="-122"/>
                <a:ea typeface="华文楷体" panose="02010600040101010101" pitchFamily="2" charset="-122"/>
              </a:rPr>
              <a:t>：相对大小、影响因素、变化趋势。</a:t>
            </a:r>
            <a:endParaRPr lang="en-US" altLang="zh-CN" sz="2400" dirty="0">
              <a:latin typeface="华文楷体" panose="02010600040101010101" pitchFamily="2" charset="-122"/>
              <a:ea typeface="华文楷体" panose="02010600040101010101" pitchFamily="2" charset="-122"/>
            </a:endParaRPr>
          </a:p>
          <a:p>
            <a:r>
              <a:rPr lang="zh-CN" altLang="en-US" sz="2400" dirty="0">
                <a:latin typeface="华文楷体" panose="02010600040101010101" pitchFamily="2" charset="-122"/>
                <a:ea typeface="华文楷体" panose="02010600040101010101" pitchFamily="2" charset="-122"/>
              </a:rPr>
              <a:t>地图</a:t>
            </a:r>
            <a:r>
              <a:rPr lang="en-US" altLang="zh-CN" sz="2400" dirty="0">
                <a:latin typeface="华文楷体" panose="02010600040101010101" pitchFamily="2" charset="-122"/>
                <a:ea typeface="华文楷体" panose="02010600040101010101" pitchFamily="2" charset="-122"/>
              </a:rPr>
              <a:t>A</a:t>
            </a:r>
            <a:r>
              <a:rPr lang="zh-CN" altLang="en-US" sz="2400" dirty="0">
                <a:latin typeface="华文楷体" panose="02010600040101010101" pitchFamily="2" charset="-122"/>
                <a:ea typeface="华文楷体" panose="02010600040101010101" pitchFamily="2" charset="-122"/>
              </a:rPr>
              <a:t>点击国家：</a:t>
            </a:r>
            <a:r>
              <a:rPr lang="zh-CN" altLang="en-US" sz="2400" dirty="0">
                <a:solidFill>
                  <a:srgbClr val="FF0000"/>
                </a:solidFill>
                <a:latin typeface="华文楷体" panose="02010600040101010101" pitchFamily="2" charset="-122"/>
                <a:ea typeface="华文楷体" panose="02010600040101010101" pitchFamily="2" charset="-122"/>
              </a:rPr>
              <a:t>图表</a:t>
            </a:r>
            <a:r>
              <a:rPr lang="en-US" altLang="zh-CN" sz="2400" dirty="0">
                <a:solidFill>
                  <a:srgbClr val="FF0000"/>
                </a:solidFill>
                <a:latin typeface="华文楷体" panose="02010600040101010101" pitchFamily="2" charset="-122"/>
                <a:ea typeface="华文楷体" panose="02010600040101010101" pitchFamily="2" charset="-122"/>
              </a:rPr>
              <a:t>B</a:t>
            </a:r>
            <a:r>
              <a:rPr lang="zh-CN" altLang="en-US" sz="2400" dirty="0">
                <a:latin typeface="华文楷体" panose="02010600040101010101" pitchFamily="2" charset="-122"/>
                <a:ea typeface="华文楷体" panose="02010600040101010101" pitchFamily="2" charset="-122"/>
              </a:rPr>
              <a:t>筛选该国家所在的</a:t>
            </a:r>
            <a:r>
              <a:rPr lang="zh-CN" altLang="en-US" sz="2400" dirty="0">
                <a:solidFill>
                  <a:srgbClr val="FF0000"/>
                </a:solidFill>
                <a:latin typeface="华文楷体" panose="02010600040101010101" pitchFamily="2" charset="-122"/>
                <a:ea typeface="华文楷体" panose="02010600040101010101" pitchFamily="2" charset="-122"/>
              </a:rPr>
              <a:t>大洲</a:t>
            </a:r>
            <a:r>
              <a:rPr lang="zh-CN" altLang="en-US" sz="2400" dirty="0">
                <a:latin typeface="华文楷体" panose="02010600040101010101" pitchFamily="2" charset="-122"/>
                <a:ea typeface="华文楷体" panose="02010600040101010101" pitchFamily="2" charset="-122"/>
              </a:rPr>
              <a:t>的数据</a:t>
            </a:r>
            <a:endParaRPr lang="en-US" altLang="zh-CN" sz="2400" dirty="0">
              <a:latin typeface="华文楷体" panose="02010600040101010101" pitchFamily="2" charset="-122"/>
              <a:ea typeface="华文楷体" panose="02010600040101010101" pitchFamily="2" charset="-122"/>
            </a:endParaRPr>
          </a:p>
          <a:p>
            <a:r>
              <a:rPr lang="en-US" altLang="zh-CN" sz="2400" dirty="0">
                <a:latin typeface="华文楷体" panose="02010600040101010101" pitchFamily="2" charset="-122"/>
                <a:ea typeface="华文楷体" panose="02010600040101010101" pitchFamily="2" charset="-122"/>
              </a:rPr>
              <a:t>		       </a:t>
            </a:r>
            <a:r>
              <a:rPr lang="zh-CN" altLang="en-US" sz="2400" dirty="0">
                <a:solidFill>
                  <a:srgbClr val="FF0000"/>
                </a:solidFill>
                <a:latin typeface="华文楷体" panose="02010600040101010101" pitchFamily="2" charset="-122"/>
                <a:ea typeface="华文楷体" panose="02010600040101010101" pitchFamily="2" charset="-122"/>
              </a:rPr>
              <a:t>图表</a:t>
            </a:r>
            <a:r>
              <a:rPr lang="en-US" altLang="zh-CN" sz="2400" dirty="0">
                <a:solidFill>
                  <a:srgbClr val="FF0000"/>
                </a:solidFill>
                <a:latin typeface="华文楷体" panose="02010600040101010101" pitchFamily="2" charset="-122"/>
                <a:ea typeface="华文楷体" panose="02010600040101010101" pitchFamily="2" charset="-122"/>
              </a:rPr>
              <a:t>C</a:t>
            </a:r>
            <a:r>
              <a:rPr lang="zh-CN" altLang="en-US" sz="2400" dirty="0">
                <a:solidFill>
                  <a:srgbClr val="FF0000"/>
                </a:solidFill>
                <a:latin typeface="华文楷体" panose="02010600040101010101" pitchFamily="2" charset="-122"/>
                <a:ea typeface="华文楷体" panose="02010600040101010101" pitchFamily="2" charset="-122"/>
              </a:rPr>
              <a:t>高亮</a:t>
            </a:r>
            <a:r>
              <a:rPr lang="zh-CN" altLang="en-US" sz="2400" dirty="0">
                <a:latin typeface="华文楷体" panose="02010600040101010101" pitchFamily="2" charset="-122"/>
                <a:ea typeface="华文楷体" panose="02010600040101010101" pitchFamily="2" charset="-122"/>
              </a:rPr>
              <a:t>显示变化曲线。</a:t>
            </a:r>
            <a:endParaRPr lang="en-US" altLang="zh-CN" sz="2400" dirty="0">
              <a:latin typeface="华文楷体" panose="02010600040101010101" pitchFamily="2" charset="-122"/>
              <a:ea typeface="华文楷体" panose="02010600040101010101" pitchFamily="2" charset="-122"/>
            </a:endParaRPr>
          </a:p>
          <a:p>
            <a:r>
              <a:rPr lang="zh-CN" altLang="en-US" sz="2400" dirty="0">
                <a:solidFill>
                  <a:srgbClr val="FF0000"/>
                </a:solidFill>
                <a:latin typeface="华文楷体" panose="02010600040101010101" pitchFamily="2" charset="-122"/>
                <a:ea typeface="华文楷体" panose="02010600040101010101" pitchFamily="2" charset="-122"/>
              </a:rPr>
              <a:t>单选模式</a:t>
            </a:r>
            <a:r>
              <a:rPr lang="zh-CN" altLang="en-US" sz="2400" dirty="0">
                <a:latin typeface="华文楷体" panose="02010600040101010101" pitchFamily="2" charset="-122"/>
                <a:ea typeface="华文楷体" panose="02010600040101010101" pitchFamily="2" charset="-122"/>
              </a:rPr>
              <a:t>点击</a:t>
            </a:r>
            <a:r>
              <a:rPr lang="zh-CN" altLang="en-US" sz="2400" dirty="0">
                <a:solidFill>
                  <a:srgbClr val="FF0000"/>
                </a:solidFill>
                <a:latin typeface="华文楷体" panose="02010600040101010101" pitchFamily="2" charset="-122"/>
                <a:ea typeface="华文楷体" panose="02010600040101010101" pitchFamily="2" charset="-122"/>
              </a:rPr>
              <a:t>图表</a:t>
            </a:r>
            <a:r>
              <a:rPr lang="en-US" altLang="zh-CN" sz="2400" dirty="0">
                <a:solidFill>
                  <a:srgbClr val="FF0000"/>
                </a:solidFill>
                <a:latin typeface="华文楷体" panose="02010600040101010101" pitchFamily="2" charset="-122"/>
                <a:ea typeface="华文楷体" panose="02010600040101010101" pitchFamily="2" charset="-122"/>
              </a:rPr>
              <a:t>B</a:t>
            </a:r>
            <a:r>
              <a:rPr lang="zh-CN" altLang="en-US" sz="2400" dirty="0">
                <a:latin typeface="华文楷体" panose="02010600040101010101" pitchFamily="2" charset="-122"/>
                <a:ea typeface="华文楷体" panose="02010600040101010101" pitchFamily="2" charset="-122"/>
              </a:rPr>
              <a:t>的国家：</a:t>
            </a:r>
            <a:r>
              <a:rPr lang="zh-CN" altLang="en-US" sz="2400" dirty="0">
                <a:solidFill>
                  <a:srgbClr val="FF0000"/>
                </a:solidFill>
                <a:latin typeface="华文楷体" panose="02010600040101010101" pitchFamily="2" charset="-122"/>
                <a:ea typeface="华文楷体" panose="02010600040101010101" pitchFamily="2" charset="-122"/>
              </a:rPr>
              <a:t>图表</a:t>
            </a:r>
            <a:r>
              <a:rPr lang="en-US" altLang="zh-CN" sz="2400" dirty="0">
                <a:solidFill>
                  <a:srgbClr val="FF0000"/>
                </a:solidFill>
                <a:latin typeface="华文楷体" panose="02010600040101010101" pitchFamily="2" charset="-122"/>
                <a:ea typeface="华文楷体" panose="02010600040101010101" pitchFamily="2" charset="-122"/>
              </a:rPr>
              <a:t>C</a:t>
            </a:r>
            <a:r>
              <a:rPr lang="zh-CN" altLang="en-US" sz="2400" dirty="0">
                <a:solidFill>
                  <a:srgbClr val="FF0000"/>
                </a:solidFill>
                <a:latin typeface="华文楷体" panose="02010600040101010101" pitchFamily="2" charset="-122"/>
                <a:ea typeface="华文楷体" panose="02010600040101010101" pitchFamily="2" charset="-122"/>
              </a:rPr>
              <a:t>高亮</a:t>
            </a:r>
            <a:r>
              <a:rPr lang="zh-CN" altLang="en-US" sz="2400" dirty="0">
                <a:latin typeface="华文楷体" panose="02010600040101010101" pitchFamily="2" charset="-122"/>
                <a:ea typeface="华文楷体" panose="02010600040101010101" pitchFamily="2" charset="-122"/>
              </a:rPr>
              <a:t>显示该国家</a:t>
            </a:r>
            <a:r>
              <a:rPr lang="zh-CN" altLang="en-US" sz="2400" dirty="0">
                <a:solidFill>
                  <a:srgbClr val="FF0000"/>
                </a:solidFill>
                <a:latin typeface="华文楷体" panose="02010600040101010101" pitchFamily="2" charset="-122"/>
                <a:ea typeface="华文楷体" panose="02010600040101010101" pitchFamily="2" charset="-122"/>
              </a:rPr>
              <a:t>随时间变化</a:t>
            </a:r>
            <a:r>
              <a:rPr lang="zh-CN" altLang="en-US" sz="2400" dirty="0">
                <a:latin typeface="华文楷体" panose="02010600040101010101" pitchFamily="2" charset="-122"/>
                <a:ea typeface="华文楷体" panose="02010600040101010101" pitchFamily="2" charset="-122"/>
              </a:rPr>
              <a:t>的幸福指数</a:t>
            </a:r>
            <a:r>
              <a:rPr lang="zh-CN" altLang="en-US" sz="2400" dirty="0">
                <a:solidFill>
                  <a:srgbClr val="FF0000"/>
                </a:solidFill>
                <a:latin typeface="华文楷体" panose="02010600040101010101" pitchFamily="2" charset="-122"/>
                <a:ea typeface="华文楷体" panose="02010600040101010101" pitchFamily="2" charset="-122"/>
              </a:rPr>
              <a:t>折线图</a:t>
            </a:r>
            <a:r>
              <a:rPr lang="zh-CN" altLang="en-US" sz="2400" dirty="0">
                <a:latin typeface="华文楷体" panose="02010600040101010101" pitchFamily="2" charset="-122"/>
                <a:ea typeface="华文楷体" panose="02010600040101010101" pitchFamily="2" charset="-122"/>
              </a:rPr>
              <a:t>。</a:t>
            </a:r>
          </a:p>
        </p:txBody>
      </p:sp>
      <p:sp>
        <p:nvSpPr>
          <p:cNvPr id="6" name="文本框 5">
            <a:extLst>
              <a:ext uri="{FF2B5EF4-FFF2-40B4-BE49-F238E27FC236}">
                <a16:creationId xmlns:a16="http://schemas.microsoft.com/office/drawing/2014/main" id="{A5FFFA83-EE4D-DCDF-9918-230FD8A8ED26}"/>
              </a:ext>
            </a:extLst>
          </p:cNvPr>
          <p:cNvSpPr txBox="1"/>
          <p:nvPr/>
        </p:nvSpPr>
        <p:spPr>
          <a:xfrm>
            <a:off x="4529042" y="133663"/>
            <a:ext cx="2809683" cy="769441"/>
          </a:xfrm>
          <a:prstGeom prst="rect">
            <a:avLst/>
          </a:prstGeom>
          <a:noFill/>
        </p:spPr>
        <p:txBody>
          <a:bodyPr wrap="square" rtlCol="0">
            <a:spAutoFit/>
          </a:bodyPr>
          <a:lstStyle/>
          <a:p>
            <a:r>
              <a:rPr lang="zh-CN" altLang="en-US" sz="4400" dirty="0">
                <a:latin typeface="华文楷体" panose="02010600040101010101" pitchFamily="2" charset="-122"/>
                <a:ea typeface="华文楷体" panose="02010600040101010101" pitchFamily="2" charset="-122"/>
              </a:rPr>
              <a:t>交互设计</a:t>
            </a:r>
            <a:r>
              <a:rPr lang="en-US" altLang="zh-CN" sz="4400" dirty="0">
                <a:latin typeface="华文楷体" panose="02010600040101010101" pitchFamily="2" charset="-122"/>
                <a:ea typeface="华文楷体" panose="02010600040101010101" pitchFamily="2" charset="-122"/>
              </a:rPr>
              <a:t>2</a:t>
            </a:r>
            <a:endParaRPr lang="zh-CN" altLang="en-US" sz="4400" dirty="0">
              <a:latin typeface="华文楷体" panose="02010600040101010101" pitchFamily="2" charset="-122"/>
              <a:ea typeface="华文楷体" panose="02010600040101010101" pitchFamily="2" charset="-122"/>
            </a:endParaRPr>
          </a:p>
        </p:txBody>
      </p:sp>
      <p:pic>
        <p:nvPicPr>
          <p:cNvPr id="12" name="图片 11">
            <a:extLst>
              <a:ext uri="{FF2B5EF4-FFF2-40B4-BE49-F238E27FC236}">
                <a16:creationId xmlns:a16="http://schemas.microsoft.com/office/drawing/2014/main" id="{70CB2DED-AEBB-6D5C-C998-D19925F7827A}"/>
              </a:ext>
            </a:extLst>
          </p:cNvPr>
          <p:cNvPicPr>
            <a:picLocks noChangeAspect="1"/>
          </p:cNvPicPr>
          <p:nvPr/>
        </p:nvPicPr>
        <p:blipFill>
          <a:blip r:embed="rId3"/>
          <a:stretch>
            <a:fillRect/>
          </a:stretch>
        </p:blipFill>
        <p:spPr>
          <a:xfrm>
            <a:off x="90000" y="3213100"/>
            <a:ext cx="3436514" cy="1980886"/>
          </a:xfrm>
          <a:prstGeom prst="rect">
            <a:avLst/>
          </a:prstGeom>
        </p:spPr>
      </p:pic>
      <p:pic>
        <p:nvPicPr>
          <p:cNvPr id="14" name="图片 13">
            <a:extLst>
              <a:ext uri="{FF2B5EF4-FFF2-40B4-BE49-F238E27FC236}">
                <a16:creationId xmlns:a16="http://schemas.microsoft.com/office/drawing/2014/main" id="{67C8CB7B-3178-6D55-27DA-084A6D37264F}"/>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574271" y="3122578"/>
            <a:ext cx="3716697" cy="2135423"/>
          </a:xfrm>
          <a:prstGeom prst="rect">
            <a:avLst/>
          </a:prstGeom>
        </p:spPr>
      </p:pic>
      <p:pic>
        <p:nvPicPr>
          <p:cNvPr id="16" name="图片 15">
            <a:extLst>
              <a:ext uri="{FF2B5EF4-FFF2-40B4-BE49-F238E27FC236}">
                <a16:creationId xmlns:a16="http://schemas.microsoft.com/office/drawing/2014/main" id="{CA62DBD0-A6C6-8B59-4110-AEE6D2141C1C}"/>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7338725" y="3149085"/>
            <a:ext cx="4773038" cy="2108916"/>
          </a:xfrm>
          <a:prstGeom prst="rect">
            <a:avLst/>
          </a:prstGeom>
        </p:spPr>
      </p:pic>
    </p:spTree>
    <p:extLst>
      <p:ext uri="{BB962C8B-B14F-4D97-AF65-F5344CB8AC3E}">
        <p14:creationId xmlns:p14="http://schemas.microsoft.com/office/powerpoint/2010/main" val="1138452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200" fill="hold"/>
                                        <p:tgtEl>
                                          <p:spTgt spid="12"/>
                                        </p:tgtEl>
                                        <p:attrNameLst>
                                          <p:attrName>ppt_x</p:attrName>
                                        </p:attrNameLst>
                                      </p:cBhvr>
                                      <p:tavLst>
                                        <p:tav tm="0">
                                          <p:val>
                                            <p:strVal val="#ppt_x"/>
                                          </p:val>
                                        </p:tav>
                                        <p:tav tm="100000">
                                          <p:val>
                                            <p:strVal val="#ppt_x"/>
                                          </p:val>
                                        </p:tav>
                                      </p:tavLst>
                                    </p:anim>
                                    <p:anim calcmode="lin" valueType="num">
                                      <p:cBhvr additive="base">
                                        <p:cTn id="8" dur="2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200" fill="hold"/>
                                        <p:tgtEl>
                                          <p:spTgt spid="14"/>
                                        </p:tgtEl>
                                        <p:attrNameLst>
                                          <p:attrName>ppt_x</p:attrName>
                                        </p:attrNameLst>
                                      </p:cBhvr>
                                      <p:tavLst>
                                        <p:tav tm="0">
                                          <p:val>
                                            <p:strVal val="#ppt_x"/>
                                          </p:val>
                                        </p:tav>
                                        <p:tav tm="100000">
                                          <p:val>
                                            <p:strVal val="#ppt_x"/>
                                          </p:val>
                                        </p:tav>
                                      </p:tavLst>
                                    </p:anim>
                                    <p:anim calcmode="lin" valueType="num">
                                      <p:cBhvr additive="base">
                                        <p:cTn id="14" dur="2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200" fill="hold"/>
                                        <p:tgtEl>
                                          <p:spTgt spid="16"/>
                                        </p:tgtEl>
                                        <p:attrNameLst>
                                          <p:attrName>ppt_x</p:attrName>
                                        </p:attrNameLst>
                                      </p:cBhvr>
                                      <p:tavLst>
                                        <p:tav tm="0">
                                          <p:val>
                                            <p:strVal val="#ppt_x"/>
                                          </p:val>
                                        </p:tav>
                                        <p:tav tm="100000">
                                          <p:val>
                                            <p:strVal val="#ppt_x"/>
                                          </p:val>
                                        </p:tav>
                                      </p:tavLst>
                                    </p:anim>
                                    <p:anim calcmode="lin" valueType="num">
                                      <p:cBhvr additive="base">
                                        <p:cTn id="20" dur="2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4CDC0-A5CB-E11D-FC04-D8443DCD179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A96AFBF8-F0C4-F06D-C375-73F3B003E1BE}"/>
              </a:ext>
            </a:extLst>
          </p:cNvPr>
          <p:cNvSpPr/>
          <p:nvPr/>
        </p:nvSpPr>
        <p:spPr>
          <a:xfrm rot="5400000">
            <a:off x="6122376" y="-4938346"/>
            <a:ext cx="70339" cy="11635154"/>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a:extLst>
              <a:ext uri="{FF2B5EF4-FFF2-40B4-BE49-F238E27FC236}">
                <a16:creationId xmlns:a16="http://schemas.microsoft.com/office/drawing/2014/main" id="{F41CEB74-E95F-7ED2-BD29-A2C8D6822DF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08854" y="11599"/>
            <a:ext cx="783146" cy="769441"/>
          </a:xfrm>
          <a:prstGeom prst="rect">
            <a:avLst/>
          </a:prstGeom>
        </p:spPr>
      </p:pic>
      <p:sp>
        <p:nvSpPr>
          <p:cNvPr id="4" name="文本框 3">
            <a:extLst>
              <a:ext uri="{FF2B5EF4-FFF2-40B4-BE49-F238E27FC236}">
                <a16:creationId xmlns:a16="http://schemas.microsoft.com/office/drawing/2014/main" id="{70007E95-FC34-7D6E-557D-B30E878C90FA}"/>
              </a:ext>
            </a:extLst>
          </p:cNvPr>
          <p:cNvSpPr txBox="1"/>
          <p:nvPr/>
        </p:nvSpPr>
        <p:spPr>
          <a:xfrm>
            <a:off x="466405" y="1153740"/>
            <a:ext cx="11390110" cy="1384995"/>
          </a:xfrm>
          <a:prstGeom prst="rect">
            <a:avLst/>
          </a:prstGeom>
          <a:noFill/>
        </p:spPr>
        <p:txBody>
          <a:bodyPr wrap="square" rtlCol="0">
            <a:spAutoFit/>
          </a:bodyPr>
          <a:lstStyle/>
          <a:p>
            <a:r>
              <a:rPr lang="zh-CN" altLang="en-US" sz="2800" dirty="0">
                <a:latin typeface="华文楷体" panose="02010600040101010101" pitchFamily="2" charset="-122"/>
                <a:ea typeface="华文楷体" panose="02010600040101010101" pitchFamily="2" charset="-122"/>
              </a:rPr>
              <a:t>我们以考虑影响因素为例来进行出国留学判断</a:t>
            </a:r>
            <a:endParaRPr lang="en-US" altLang="zh-CN" sz="2800" dirty="0">
              <a:latin typeface="华文楷体" panose="02010600040101010101" pitchFamily="2" charset="-122"/>
              <a:ea typeface="华文楷体" panose="02010600040101010101" pitchFamily="2" charset="-122"/>
            </a:endParaRPr>
          </a:p>
          <a:p>
            <a:r>
              <a:rPr lang="zh-CN" altLang="en-US" sz="2800" dirty="0">
                <a:latin typeface="华文楷体" panose="02010600040101010101" pitchFamily="2" charset="-122"/>
                <a:ea typeface="华文楷体" panose="02010600040101010101" pitchFamily="2" charset="-122"/>
              </a:rPr>
              <a:t>期望：</a:t>
            </a:r>
            <a:r>
              <a:rPr lang="en-US" altLang="zh-CN" sz="2800" dirty="0">
                <a:latin typeface="华文楷体" panose="02010600040101010101" pitchFamily="2" charset="-122"/>
                <a:ea typeface="华文楷体" panose="02010600040101010101" pitchFamily="2" charset="-122"/>
              </a:rPr>
              <a:t>1.</a:t>
            </a:r>
            <a:r>
              <a:rPr lang="zh-CN" altLang="en-US" sz="2800" dirty="0">
                <a:latin typeface="华文楷体" panose="02010600040101010101" pitchFamily="2" charset="-122"/>
                <a:ea typeface="华文楷体" panose="02010600040101010101" pitchFamily="2" charset="-122"/>
              </a:rPr>
              <a:t>幸福指数较高</a:t>
            </a:r>
            <a:r>
              <a:rPr lang="en-US" altLang="zh-CN" sz="2800" dirty="0">
                <a:latin typeface="华文楷体" panose="02010600040101010101" pitchFamily="2" charset="-122"/>
                <a:ea typeface="华文楷体" panose="02010600040101010101" pitchFamily="2" charset="-122"/>
              </a:rPr>
              <a:t>	          2.</a:t>
            </a:r>
            <a:r>
              <a:rPr lang="zh-CN" altLang="en-US" sz="2800" dirty="0">
                <a:latin typeface="华文楷体" panose="02010600040101010101" pitchFamily="2" charset="-122"/>
                <a:ea typeface="华文楷体" panose="02010600040101010101" pitchFamily="2" charset="-122"/>
              </a:rPr>
              <a:t>生活在欧洲</a:t>
            </a:r>
            <a:r>
              <a:rPr lang="en-US" altLang="zh-CN" sz="2800" dirty="0">
                <a:latin typeface="华文楷体" panose="02010600040101010101" pitchFamily="2" charset="-122"/>
                <a:ea typeface="华文楷体" panose="02010600040101010101" pitchFamily="2" charset="-122"/>
              </a:rPr>
              <a:t>	</a:t>
            </a:r>
          </a:p>
          <a:p>
            <a:r>
              <a:rPr lang="en-US" altLang="zh-CN" sz="2800" dirty="0">
                <a:latin typeface="华文楷体" panose="02010600040101010101" pitchFamily="2" charset="-122"/>
                <a:ea typeface="华文楷体" panose="02010600040101010101" pitchFamily="2" charset="-122"/>
              </a:rPr>
              <a:t>	  3.</a:t>
            </a:r>
            <a:r>
              <a:rPr lang="zh-CN" altLang="en-US" sz="2800" dirty="0">
                <a:latin typeface="华文楷体" panose="02010600040101010101" pitchFamily="2" charset="-122"/>
                <a:ea typeface="华文楷体" panose="02010600040101010101" pitchFamily="2" charset="-122"/>
              </a:rPr>
              <a:t>健康而且有</a:t>
            </a:r>
            <a:r>
              <a:rPr lang="en-US" altLang="zh-CN" sz="2800" dirty="0">
                <a:latin typeface="华文楷体" panose="02010600040101010101" pitchFamily="2" charset="-122"/>
                <a:ea typeface="华文楷体" panose="02010600040101010101" pitchFamily="2" charset="-122"/>
              </a:rPr>
              <a:t>money	4.</a:t>
            </a:r>
            <a:r>
              <a:rPr lang="zh-CN" altLang="en-US" sz="2800" dirty="0">
                <a:latin typeface="华文楷体" panose="02010600040101010101" pitchFamily="2" charset="-122"/>
                <a:ea typeface="华文楷体" panose="02010600040101010101" pitchFamily="2" charset="-122"/>
              </a:rPr>
              <a:t>有美好未来</a:t>
            </a:r>
            <a:endParaRPr lang="en-US" altLang="zh-CN" sz="2800" dirty="0">
              <a:latin typeface="华文楷体" panose="02010600040101010101" pitchFamily="2" charset="-122"/>
              <a:ea typeface="华文楷体" panose="02010600040101010101" pitchFamily="2" charset="-122"/>
            </a:endParaRPr>
          </a:p>
        </p:txBody>
      </p:sp>
      <p:sp>
        <p:nvSpPr>
          <p:cNvPr id="6" name="文本框 5">
            <a:extLst>
              <a:ext uri="{FF2B5EF4-FFF2-40B4-BE49-F238E27FC236}">
                <a16:creationId xmlns:a16="http://schemas.microsoft.com/office/drawing/2014/main" id="{0E26D0D3-6268-C860-881C-C783AA155A8F}"/>
              </a:ext>
            </a:extLst>
          </p:cNvPr>
          <p:cNvSpPr txBox="1"/>
          <p:nvPr/>
        </p:nvSpPr>
        <p:spPr>
          <a:xfrm>
            <a:off x="4853274" y="133663"/>
            <a:ext cx="2485451" cy="769441"/>
          </a:xfrm>
          <a:prstGeom prst="rect">
            <a:avLst/>
          </a:prstGeom>
          <a:noFill/>
        </p:spPr>
        <p:txBody>
          <a:bodyPr wrap="square" rtlCol="0">
            <a:spAutoFit/>
          </a:bodyPr>
          <a:lstStyle/>
          <a:p>
            <a:r>
              <a:rPr lang="zh-CN" altLang="en-US" sz="4400" dirty="0">
                <a:latin typeface="华文楷体" panose="02010600040101010101" pitchFamily="2" charset="-122"/>
                <a:ea typeface="华文楷体" panose="02010600040101010101" pitchFamily="2" charset="-122"/>
              </a:rPr>
              <a:t>案例分析</a:t>
            </a:r>
          </a:p>
        </p:txBody>
      </p:sp>
      <p:pic>
        <p:nvPicPr>
          <p:cNvPr id="7" name="图片 6">
            <a:extLst>
              <a:ext uri="{FF2B5EF4-FFF2-40B4-BE49-F238E27FC236}">
                <a16:creationId xmlns:a16="http://schemas.microsoft.com/office/drawing/2014/main" id="{0A300F41-DC7B-058C-390E-503ACECDCEFB}"/>
              </a:ext>
            </a:extLst>
          </p:cNvPr>
          <p:cNvPicPr>
            <a:picLocks noChangeAspect="1"/>
          </p:cNvPicPr>
          <p:nvPr/>
        </p:nvPicPr>
        <p:blipFill>
          <a:blip r:embed="rId4"/>
          <a:stretch>
            <a:fillRect/>
          </a:stretch>
        </p:blipFill>
        <p:spPr>
          <a:xfrm>
            <a:off x="8695081" y="1027857"/>
            <a:ext cx="2375601" cy="1923613"/>
          </a:xfrm>
          <a:prstGeom prst="rect">
            <a:avLst/>
          </a:prstGeom>
        </p:spPr>
      </p:pic>
      <p:pic>
        <p:nvPicPr>
          <p:cNvPr id="12" name="图片 11">
            <a:extLst>
              <a:ext uri="{FF2B5EF4-FFF2-40B4-BE49-F238E27FC236}">
                <a16:creationId xmlns:a16="http://schemas.microsoft.com/office/drawing/2014/main" id="{D0A077E5-1CD7-7FD1-76D4-8B0B0574A4CA}"/>
              </a:ext>
            </a:extLst>
          </p:cNvPr>
          <p:cNvPicPr>
            <a:picLocks noChangeAspect="1"/>
          </p:cNvPicPr>
          <p:nvPr/>
        </p:nvPicPr>
        <p:blipFill>
          <a:blip r:embed="rId5"/>
          <a:stretch>
            <a:fillRect/>
          </a:stretch>
        </p:blipFill>
        <p:spPr>
          <a:xfrm>
            <a:off x="407315" y="2593304"/>
            <a:ext cx="3762796" cy="2171151"/>
          </a:xfrm>
          <a:prstGeom prst="rect">
            <a:avLst/>
          </a:prstGeom>
        </p:spPr>
      </p:pic>
      <p:pic>
        <p:nvPicPr>
          <p:cNvPr id="16" name="图片 15">
            <a:extLst>
              <a:ext uri="{FF2B5EF4-FFF2-40B4-BE49-F238E27FC236}">
                <a16:creationId xmlns:a16="http://schemas.microsoft.com/office/drawing/2014/main" id="{77E68DE8-220D-B3AD-EA65-E4B91ACE6740}"/>
              </a:ext>
            </a:extLst>
          </p:cNvPr>
          <p:cNvPicPr>
            <a:picLocks noChangeAspect="1"/>
          </p:cNvPicPr>
          <p:nvPr/>
        </p:nvPicPr>
        <p:blipFill>
          <a:blip r:embed="rId6"/>
          <a:stretch>
            <a:fillRect/>
          </a:stretch>
        </p:blipFill>
        <p:spPr>
          <a:xfrm>
            <a:off x="4234484" y="2593304"/>
            <a:ext cx="3804712" cy="2160898"/>
          </a:xfrm>
          <a:prstGeom prst="rect">
            <a:avLst/>
          </a:prstGeom>
        </p:spPr>
      </p:pic>
      <p:pic>
        <p:nvPicPr>
          <p:cNvPr id="19" name="图片 18">
            <a:extLst>
              <a:ext uri="{FF2B5EF4-FFF2-40B4-BE49-F238E27FC236}">
                <a16:creationId xmlns:a16="http://schemas.microsoft.com/office/drawing/2014/main" id="{35B074E2-D816-A43A-6CE2-C1C9C222962E}"/>
              </a:ext>
            </a:extLst>
          </p:cNvPr>
          <p:cNvPicPr>
            <a:picLocks noChangeAspect="1"/>
          </p:cNvPicPr>
          <p:nvPr/>
        </p:nvPicPr>
        <p:blipFill>
          <a:blip r:embed="rId7"/>
          <a:stretch>
            <a:fillRect/>
          </a:stretch>
        </p:blipFill>
        <p:spPr>
          <a:xfrm>
            <a:off x="8141777" y="2934179"/>
            <a:ext cx="3714738" cy="2037871"/>
          </a:xfrm>
          <a:prstGeom prst="rect">
            <a:avLst/>
          </a:prstGeom>
        </p:spPr>
      </p:pic>
      <p:pic>
        <p:nvPicPr>
          <p:cNvPr id="21" name="图片 20">
            <a:extLst>
              <a:ext uri="{FF2B5EF4-FFF2-40B4-BE49-F238E27FC236}">
                <a16:creationId xmlns:a16="http://schemas.microsoft.com/office/drawing/2014/main" id="{B9557464-C0A9-1A21-FB61-3278347DB808}"/>
              </a:ext>
            </a:extLst>
          </p:cNvPr>
          <p:cNvPicPr>
            <a:picLocks noChangeAspect="1"/>
          </p:cNvPicPr>
          <p:nvPr/>
        </p:nvPicPr>
        <p:blipFill>
          <a:blip r:embed="rId8"/>
          <a:stretch>
            <a:fillRect/>
          </a:stretch>
        </p:blipFill>
        <p:spPr>
          <a:xfrm>
            <a:off x="529905" y="4819024"/>
            <a:ext cx="3640206" cy="2061358"/>
          </a:xfrm>
          <a:prstGeom prst="rect">
            <a:avLst/>
          </a:prstGeom>
        </p:spPr>
      </p:pic>
      <p:pic>
        <p:nvPicPr>
          <p:cNvPr id="25" name="图片 24">
            <a:extLst>
              <a:ext uri="{FF2B5EF4-FFF2-40B4-BE49-F238E27FC236}">
                <a16:creationId xmlns:a16="http://schemas.microsoft.com/office/drawing/2014/main" id="{8508B170-FC64-49A4-B6D6-274ACEEC7324}"/>
              </a:ext>
            </a:extLst>
          </p:cNvPr>
          <p:cNvPicPr>
            <a:picLocks noChangeAspect="1"/>
          </p:cNvPicPr>
          <p:nvPr/>
        </p:nvPicPr>
        <p:blipFill>
          <a:blip r:embed="rId9"/>
          <a:stretch>
            <a:fillRect/>
          </a:stretch>
        </p:blipFill>
        <p:spPr>
          <a:xfrm>
            <a:off x="4234484" y="4819024"/>
            <a:ext cx="4566616" cy="2040804"/>
          </a:xfrm>
          <a:prstGeom prst="rect">
            <a:avLst/>
          </a:prstGeom>
        </p:spPr>
      </p:pic>
    </p:spTree>
    <p:extLst>
      <p:ext uri="{BB962C8B-B14F-4D97-AF65-F5344CB8AC3E}">
        <p14:creationId xmlns:p14="http://schemas.microsoft.com/office/powerpoint/2010/main" val="2709906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2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additive="base">
                                        <p:cTn id="12" dur="200" fill="hold"/>
                                        <p:tgtEl>
                                          <p:spTgt spid="12"/>
                                        </p:tgtEl>
                                        <p:attrNameLst>
                                          <p:attrName>ppt_x</p:attrName>
                                        </p:attrNameLst>
                                      </p:cBhvr>
                                      <p:tavLst>
                                        <p:tav tm="0">
                                          <p:val>
                                            <p:strVal val="#ppt_x"/>
                                          </p:val>
                                        </p:tav>
                                        <p:tav tm="100000">
                                          <p:val>
                                            <p:strVal val="#ppt_x"/>
                                          </p:val>
                                        </p:tav>
                                      </p:tavLst>
                                    </p:anim>
                                    <p:anim calcmode="lin" valueType="num">
                                      <p:cBhvr additive="base">
                                        <p:cTn id="13" dur="2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16"/>
                                        </p:tgtEl>
                                        <p:attrNameLst>
                                          <p:attrName>style.visibility</p:attrName>
                                        </p:attrNameLst>
                                      </p:cBhvr>
                                      <p:to>
                                        <p:strVal val="visible"/>
                                      </p:to>
                                    </p:set>
                                    <p:anim calcmode="lin" valueType="num">
                                      <p:cBhvr additive="base">
                                        <p:cTn id="18" dur="200" fill="hold"/>
                                        <p:tgtEl>
                                          <p:spTgt spid="16"/>
                                        </p:tgtEl>
                                        <p:attrNameLst>
                                          <p:attrName>ppt_x</p:attrName>
                                        </p:attrNameLst>
                                      </p:cBhvr>
                                      <p:tavLst>
                                        <p:tav tm="0">
                                          <p:val>
                                            <p:strVal val="#ppt_x"/>
                                          </p:val>
                                        </p:tav>
                                        <p:tav tm="100000">
                                          <p:val>
                                            <p:strVal val="#ppt_x"/>
                                          </p:val>
                                        </p:tav>
                                      </p:tavLst>
                                    </p:anim>
                                    <p:anim calcmode="lin" valueType="num">
                                      <p:cBhvr additive="base">
                                        <p:cTn id="19" dur="2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9"/>
                                        </p:tgtEl>
                                        <p:attrNameLst>
                                          <p:attrName>style.visibility</p:attrName>
                                        </p:attrNameLst>
                                      </p:cBhvr>
                                      <p:to>
                                        <p:strVal val="visible"/>
                                      </p:to>
                                    </p:set>
                                    <p:anim calcmode="lin" valueType="num">
                                      <p:cBhvr additive="base">
                                        <p:cTn id="24" dur="200" fill="hold"/>
                                        <p:tgtEl>
                                          <p:spTgt spid="19"/>
                                        </p:tgtEl>
                                        <p:attrNameLst>
                                          <p:attrName>ppt_x</p:attrName>
                                        </p:attrNameLst>
                                      </p:cBhvr>
                                      <p:tavLst>
                                        <p:tav tm="0">
                                          <p:val>
                                            <p:strVal val="#ppt_x"/>
                                          </p:val>
                                        </p:tav>
                                        <p:tav tm="100000">
                                          <p:val>
                                            <p:strVal val="#ppt_x"/>
                                          </p:val>
                                        </p:tav>
                                      </p:tavLst>
                                    </p:anim>
                                    <p:anim calcmode="lin" valueType="num">
                                      <p:cBhvr additive="base">
                                        <p:cTn id="25" dur="2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 calcmode="lin" valueType="num">
                                      <p:cBhvr additive="base">
                                        <p:cTn id="30" dur="200" fill="hold"/>
                                        <p:tgtEl>
                                          <p:spTgt spid="21"/>
                                        </p:tgtEl>
                                        <p:attrNameLst>
                                          <p:attrName>ppt_x</p:attrName>
                                        </p:attrNameLst>
                                      </p:cBhvr>
                                      <p:tavLst>
                                        <p:tav tm="0">
                                          <p:val>
                                            <p:strVal val="#ppt_x"/>
                                          </p:val>
                                        </p:tav>
                                        <p:tav tm="100000">
                                          <p:val>
                                            <p:strVal val="#ppt_x"/>
                                          </p:val>
                                        </p:tav>
                                      </p:tavLst>
                                    </p:anim>
                                    <p:anim calcmode="lin" valueType="num">
                                      <p:cBhvr additive="base">
                                        <p:cTn id="31" dur="2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anim calcmode="lin" valueType="num">
                                      <p:cBhvr additive="base">
                                        <p:cTn id="36" dur="200" fill="hold"/>
                                        <p:tgtEl>
                                          <p:spTgt spid="25"/>
                                        </p:tgtEl>
                                        <p:attrNameLst>
                                          <p:attrName>ppt_x</p:attrName>
                                        </p:attrNameLst>
                                      </p:cBhvr>
                                      <p:tavLst>
                                        <p:tav tm="0">
                                          <p:val>
                                            <p:strVal val="#ppt_x"/>
                                          </p:val>
                                        </p:tav>
                                        <p:tav tm="100000">
                                          <p:val>
                                            <p:strVal val="#ppt_x"/>
                                          </p:val>
                                        </p:tav>
                                      </p:tavLst>
                                    </p:anim>
                                    <p:anim calcmode="lin" valueType="num">
                                      <p:cBhvr additive="base">
                                        <p:cTn id="37" dur="2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2082</TotalTime>
  <Words>658</Words>
  <Application>Microsoft Office PowerPoint</Application>
  <PresentationFormat>宽屏</PresentationFormat>
  <Paragraphs>70</Paragraphs>
  <Slides>10</Slides>
  <Notes>6</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10</vt:i4>
      </vt:variant>
    </vt:vector>
  </HeadingPairs>
  <TitlesOfParts>
    <vt:vector size="16" baseType="lpstr">
      <vt:lpstr>等线</vt:lpstr>
      <vt:lpstr>等线 Light</vt:lpstr>
      <vt:lpstr>华文楷体</vt:lpstr>
      <vt:lpstr>楷体</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众 王</dc:creator>
  <cp:lastModifiedBy>耕嘉 张</cp:lastModifiedBy>
  <cp:revision>21</cp:revision>
  <dcterms:created xsi:type="dcterms:W3CDTF">2024-12-21T11:24:58Z</dcterms:created>
  <dcterms:modified xsi:type="dcterms:W3CDTF">2024-12-26T08:53:21Z</dcterms:modified>
</cp:coreProperties>
</file>