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313" r:id="rId3"/>
    <p:sldId id="390" r:id="rId4"/>
    <p:sldId id="391" r:id="rId5"/>
    <p:sldId id="422" r:id="rId6"/>
    <p:sldId id="433" r:id="rId7"/>
    <p:sldId id="426" r:id="rId8"/>
    <p:sldId id="428" r:id="rId9"/>
    <p:sldId id="427" r:id="rId10"/>
    <p:sldId id="395" r:id="rId11"/>
    <p:sldId id="434" r:id="rId12"/>
    <p:sldId id="430" r:id="rId13"/>
    <p:sldId id="429" r:id="rId14"/>
    <p:sldId id="432" r:id="rId15"/>
    <p:sldId id="396" r:id="rId16"/>
    <p:sldId id="401" r:id="rId17"/>
    <p:sldId id="406" r:id="rId18"/>
    <p:sldId id="409" r:id="rId19"/>
    <p:sldId id="407" r:id="rId20"/>
    <p:sldId id="408" r:id="rId21"/>
    <p:sldId id="420" r:id="rId22"/>
    <p:sldId id="384" r:id="rId23"/>
    <p:sldId id="41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节" id="{7900C114-C96E-4BE6-AC82-E067EFBBD2E0}">
          <p14:sldIdLst>
            <p14:sldId id="256"/>
            <p14:sldId id="313"/>
            <p14:sldId id="390"/>
            <p14:sldId id="391"/>
            <p14:sldId id="422"/>
            <p14:sldId id="433"/>
            <p14:sldId id="426"/>
            <p14:sldId id="428"/>
            <p14:sldId id="427"/>
            <p14:sldId id="395"/>
            <p14:sldId id="434"/>
            <p14:sldId id="430"/>
            <p14:sldId id="429"/>
            <p14:sldId id="432"/>
            <p14:sldId id="396"/>
            <p14:sldId id="401"/>
            <p14:sldId id="406"/>
            <p14:sldId id="409"/>
            <p14:sldId id="407"/>
            <p14:sldId id="408"/>
            <p14:sldId id="420"/>
            <p14:sldId id="384"/>
            <p14:sldId id="4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JX" initials="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1B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2" autoAdjust="0"/>
    <p:restoredTop sz="85048" autoAdjust="0"/>
  </p:normalViewPr>
  <p:slideViewPr>
    <p:cSldViewPr snapToGrid="0">
      <p:cViewPr varScale="1">
        <p:scale>
          <a:sx n="94" d="100"/>
          <a:sy n="94" d="100"/>
        </p:scale>
        <p:origin x="7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D89BB-6A01-4AD0-A4E4-769DC0A90548}" type="datetimeFigureOut">
              <a:rPr lang="zh-CN" altLang="en-US" smtClean="0"/>
              <a:t>2024/12/20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28EABA-DA39-455E-A68C-CAB206D65A5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8EABA-DA39-455E-A68C-CAB206D65A5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8EABA-DA39-455E-A68C-CAB206D65A5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8EABA-DA39-455E-A68C-CAB206D65A5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02177-44F9-6125-3D03-0DDFBD48D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CA7349-2C18-B8D2-454D-0CB60E6B3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7CAD6C-3873-A10A-261F-1E1E94E15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6E9DFC-E6F8-CD5F-31DD-4781E02B4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8EABA-DA39-455E-A68C-CAB206D65A5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99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4286C-B6CB-7D73-2B3C-342A2ADBC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B6E4EA-6AEB-0855-D9B2-6A9F22388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7A7780-68A0-315E-D004-A09767A2C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059A76-2CF9-FB2F-12C8-630CAE3B2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8EABA-DA39-455E-A68C-CAB206D65A5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71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8EABA-DA39-455E-A68C-CAB206D65A5B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8EABA-DA39-455E-A68C-CAB206D65A5B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8EABA-DA39-455E-A68C-CAB206D65A5B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8EABA-DA39-455E-A68C-CAB206D65A5B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8EABA-DA39-455E-A68C-CAB206D65A5B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8EABA-DA39-455E-A68C-CAB206D65A5B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8EABA-DA39-455E-A68C-CAB206D65A5B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8EABA-DA39-455E-A68C-CAB206D65A5B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28EABA-DA39-455E-A68C-CAB206D65A5B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78E5E-6B8C-4400-BE58-2E1863EDE4FF}" type="datetime1">
              <a:rPr lang="zh-CN" altLang="en-US" smtClean="0"/>
              <a:t>2024/12/20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DF4F-D468-4E54-A555-8CBC817F80E7}" type="datetime1">
              <a:rPr lang="zh-CN" altLang="en-US" smtClean="0"/>
              <a:t>2024/12/20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线连接符 6"/>
          <p:cNvCxnSpPr/>
          <p:nvPr userDrawn="1"/>
        </p:nvCxnSpPr>
        <p:spPr>
          <a:xfrm>
            <a:off x="628650" y="1552901"/>
            <a:ext cx="8391782" cy="0"/>
          </a:xfrm>
          <a:prstGeom prst="line">
            <a:avLst/>
          </a:prstGeom>
          <a:ln w="85725">
            <a:gradFill flip="none" rotWithShape="1">
              <a:gsLst>
                <a:gs pos="0">
                  <a:srgbClr val="7C1B62"/>
                </a:gs>
                <a:gs pos="100000">
                  <a:schemeClr val="bg1"/>
                </a:gs>
                <a:gs pos="100000">
                  <a:schemeClr val="bg1"/>
                </a:gs>
                <a:gs pos="8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7863" y="191855"/>
            <a:ext cx="1282845" cy="12828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0591-0898-4134-8993-4F3B01CBB28A}" type="datetime1">
              <a:rPr lang="zh-CN" altLang="en-US" smtClean="0"/>
              <a:t>2024/12/20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7A6A7-87A9-4B7D-B0EC-A1625BA5F837}" type="datetime1">
              <a:rPr lang="zh-CN" altLang="en-US" smtClean="0"/>
              <a:t>2024/12/20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1B380-840E-465A-9006-D9CE2DE8E8F6}" type="datetime1">
              <a:rPr lang="zh-CN" altLang="en-US" smtClean="0"/>
              <a:t>2024/12/20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5738F-68F6-471C-8E5E-86BC29FA4E4E}" type="datetime1">
              <a:rPr lang="zh-CN" altLang="en-US" smtClean="0"/>
              <a:t>2024/12/20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3471D-4AE7-403C-9B66-81535D7CE314}" type="datetime1">
              <a:rPr lang="zh-CN" altLang="en-US" smtClean="0"/>
              <a:t>2024/12/20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7BE6A-4B92-47AA-83EA-1A838E279269}" type="datetime1">
              <a:rPr lang="zh-CN" altLang="en-US" smtClean="0"/>
              <a:t>2024/12/20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515A-092D-4BA6-8CB9-D768F27C8181}" type="datetime1">
              <a:rPr lang="zh-CN" altLang="en-US" smtClean="0"/>
              <a:t>2024/12/20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242E8-39B1-47E9-9E1D-7CFE0A3430DA}" type="datetime1">
              <a:rPr lang="zh-CN" altLang="en-US" smtClean="0"/>
              <a:t>2024/12/20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E2C5C-8E2A-4D8C-9DF0-9778E61F440F}" type="datetime1">
              <a:rPr lang="zh-CN" altLang="en-US" smtClean="0"/>
              <a:t>2024/12/20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C141A-EAF9-4A2D-A2F3-55BEFAD9ECE8}" type="datetime1">
              <a:rPr lang="zh-CN" altLang="en-US" smtClean="0"/>
              <a:t>2024/12/20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746A5-2B50-442B-9EB1-A59B0B113E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-54927"/>
            <a:ext cx="7772400" cy="2387600"/>
          </a:xfrm>
        </p:spPr>
        <p:txBody>
          <a:bodyPr>
            <a:norm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4000" b="1" dirty="0">
                <a:latin typeface="+mn-lt"/>
                <a:cs typeface="+mn-lt"/>
              </a:rPr>
              <a:t>Python</a:t>
            </a:r>
            <a:r>
              <a:rPr lang="zh-CN" altLang="en-US" sz="4000" b="1" dirty="0">
                <a:latin typeface="+mn-lt"/>
                <a:cs typeface="+mn-lt"/>
              </a:rPr>
              <a:t>语言程序设计</a:t>
            </a:r>
            <a:br>
              <a:rPr lang="en-US" altLang="zh-CN" sz="4000" dirty="0"/>
            </a:br>
            <a:r>
              <a:rPr lang="zh-CN" altLang="en-US" sz="3600" b="1" dirty="0">
                <a:latin typeface="+mj-ea"/>
              </a:rPr>
              <a:t>课程大作业讲解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143000" y="5528470"/>
            <a:ext cx="6858000" cy="1655762"/>
          </a:xfrm>
        </p:spPr>
        <p:txBody>
          <a:bodyPr/>
          <a:lstStyle/>
          <a:p>
            <a:r>
              <a:rPr lang="zh-CN" altLang="en-US" dirty="0"/>
              <a:t>张耕嘉 </a:t>
            </a:r>
            <a:r>
              <a:rPr lang="en-US" altLang="zh-CN" dirty="0"/>
              <a:t>2313725</a:t>
            </a:r>
          </a:p>
        </p:txBody>
      </p:sp>
      <p:pic>
        <p:nvPicPr>
          <p:cNvPr id="17" name="Docer搜索：半想象现实   http://chn.docer.com/works/?userid=199927538" descr="南开大学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270" y="3774123"/>
            <a:ext cx="1521460" cy="150241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4540989-4DD3-2D1F-D44C-5A1F5E40A111}"/>
              </a:ext>
            </a:extLst>
          </p:cNvPr>
          <p:cNvSpPr txBox="1"/>
          <p:nvPr/>
        </p:nvSpPr>
        <p:spPr>
          <a:xfrm>
            <a:off x="1706880" y="2776399"/>
            <a:ext cx="640757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b="1" dirty="0">
                <a:latin typeface="+mj-ea"/>
                <a:ea typeface="+mj-ea"/>
                <a:cs typeface="+mj-cs"/>
              </a:rPr>
              <a:t>基于</a:t>
            </a:r>
            <a:r>
              <a:rPr lang="en-US" altLang="zh-CN" sz="3000" b="1" dirty="0">
                <a:latin typeface="+mj-ea"/>
                <a:ea typeface="+mj-ea"/>
                <a:cs typeface="+mj-cs"/>
              </a:rPr>
              <a:t>BERT</a:t>
            </a:r>
            <a:r>
              <a:rPr lang="zh-CN" altLang="en-US" sz="3000" b="1" dirty="0">
                <a:latin typeface="+mj-ea"/>
                <a:ea typeface="+mj-ea"/>
                <a:cs typeface="+mj-cs"/>
              </a:rPr>
              <a:t>的新闻分类模型构建与训练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摘要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687570"/>
          </a:xfrm>
        </p:spPr>
        <p:txBody>
          <a:bodyPr>
            <a:normAutofit/>
          </a:bodyPr>
          <a:lstStyle/>
          <a:p>
            <a:pPr fontAlgn="auto">
              <a:lnSpc>
                <a:spcPct val="100000"/>
              </a:lnSpc>
            </a:pPr>
            <a:r>
              <a:rPr kumimoji="1" lang="zh-CN" altLang="en-US" b="1" dirty="0"/>
              <a:t>问题描述</a:t>
            </a:r>
            <a:r>
              <a:rPr kumimoji="1" lang="en-US" altLang="zh-CN" b="1" dirty="0"/>
              <a:t>:</a:t>
            </a:r>
            <a:endParaRPr kumimoji="1" lang="zh-CN" altLang="en-US" sz="2000" dirty="0"/>
          </a:p>
          <a:p>
            <a:pPr fontAlgn="auto">
              <a:lnSpc>
                <a:spcPct val="100000"/>
              </a:lnSpc>
            </a:pPr>
            <a:r>
              <a:rPr kumimoji="1" lang="zh-CN" altLang="en-US" sz="1800" dirty="0"/>
              <a:t>数据集包含文本标题、关键词及分类标签，目标是预测测试集标签。</a:t>
            </a:r>
            <a:endParaRPr kumimoji="1" lang="en-US" altLang="zh-CN" sz="1800" dirty="0"/>
          </a:p>
          <a:p>
            <a:pPr fontAlgn="auto">
              <a:lnSpc>
                <a:spcPct val="100000"/>
              </a:lnSpc>
            </a:pPr>
            <a:r>
              <a:rPr kumimoji="1" lang="en-US" altLang="zh-CN" sz="1800" dirty="0" err="1">
                <a:sym typeface="+mn-ea"/>
              </a:rPr>
              <a:t>本实验使用</a:t>
            </a:r>
            <a:r>
              <a:rPr kumimoji="1" lang="zh-CN" altLang="en-US" sz="1800" dirty="0">
                <a:sym typeface="+mn-ea"/>
              </a:rPr>
              <a:t>深度</a:t>
            </a:r>
            <a:r>
              <a:rPr kumimoji="1" lang="en-US" altLang="zh-CN" sz="1800" dirty="0" err="1">
                <a:sym typeface="+mn-ea"/>
              </a:rPr>
              <a:t>学习中的</a:t>
            </a:r>
            <a:r>
              <a:rPr kumimoji="1" lang="en-US" altLang="zh-CN" sz="1800" b="1" dirty="0" err="1"/>
              <a:t>BERT</a:t>
            </a:r>
            <a:r>
              <a:rPr kumimoji="1" lang="en-US" altLang="zh-CN" sz="1800" dirty="0" err="1">
                <a:sym typeface="+mn-ea"/>
              </a:rPr>
              <a:t>方法对文本内容进行分类</a:t>
            </a:r>
            <a:r>
              <a:rPr kumimoji="1" lang="en-US" altLang="zh-CN" sz="1800" dirty="0">
                <a:sym typeface="+mn-ea"/>
              </a:rPr>
              <a:t>。</a:t>
            </a:r>
            <a:endParaRPr kumimoji="1" lang="en-US" altLang="zh-CN" sz="1800" dirty="0"/>
          </a:p>
          <a:p>
            <a:endParaRPr kumimoji="1" lang="en-US" altLang="zh-CN" sz="2000" dirty="0"/>
          </a:p>
          <a:p>
            <a:r>
              <a:rPr kumimoji="1" lang="zh-CN" altLang="en-US" b="1" dirty="0"/>
              <a:t>实现思路</a:t>
            </a:r>
            <a:r>
              <a:rPr kumimoji="1" lang="en-US" altLang="zh-CN" b="1" dirty="0"/>
              <a:t>:</a:t>
            </a:r>
            <a:endParaRPr kumimoji="1" lang="en-US" altLang="zh-CN" sz="1800" dirty="0"/>
          </a:p>
          <a:p>
            <a:r>
              <a:rPr kumimoji="1" lang="en-US" altLang="zh-CN" sz="2000" dirty="0" err="1"/>
              <a:t>获取数据集</a:t>
            </a:r>
            <a:r>
              <a:rPr kumimoji="1" lang="en-US" altLang="zh-CN" sz="2000" dirty="0"/>
              <a:t> + </a:t>
            </a:r>
            <a:r>
              <a:rPr kumimoji="1" lang="en-US" altLang="zh-CN" sz="2000" dirty="0" err="1"/>
              <a:t>数据处理</a:t>
            </a:r>
            <a:r>
              <a:rPr kumimoji="1" lang="zh-CN" altLang="en-US" sz="2000" dirty="0"/>
              <a:t>（</a:t>
            </a:r>
            <a:r>
              <a:rPr kumimoji="1" lang="zh-CN" altLang="zh-CN" sz="2000" dirty="0"/>
              <a:t>分词、去停用词、去除非中文字符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r>
              <a:rPr kumimoji="1" lang="zh-CN" altLang="en-US" sz="2000" dirty="0"/>
              <a:t>模型训练：</a:t>
            </a:r>
            <a:r>
              <a:rPr kumimoji="1" lang="en-US" altLang="zh-CN" sz="2000" dirty="0" err="1"/>
              <a:t>Pytorch</a:t>
            </a:r>
            <a:r>
              <a:rPr kumimoji="1" lang="zh-CN" altLang="en-US" sz="2000" dirty="0"/>
              <a:t>数据集构建、</a:t>
            </a:r>
            <a:r>
              <a:rPr kumimoji="1" lang="zh-CN" altLang="zh-CN" sz="2000" dirty="0"/>
              <a:t>预训练BERT模型微调</a:t>
            </a:r>
            <a:endParaRPr kumimoji="1" lang="en-US" altLang="zh-CN" sz="2000" dirty="0"/>
          </a:p>
          <a:p>
            <a:r>
              <a:rPr kumimoji="1" lang="zh-CN" altLang="zh-CN" sz="2000" dirty="0"/>
              <a:t>模型优化：采用AdamW优化器，结合早停策略。 </a:t>
            </a:r>
            <a:endParaRPr kumimoji="1" lang="en-US" altLang="zh-CN" sz="2000" dirty="0"/>
          </a:p>
          <a:p>
            <a:r>
              <a:rPr kumimoji="1" lang="en-US" altLang="zh-CN" sz="2000" dirty="0" err="1"/>
              <a:t>模型评</a:t>
            </a:r>
            <a:r>
              <a:rPr kumimoji="1" lang="zh-CN" altLang="en-US" sz="2000" dirty="0"/>
              <a:t>估(Accuracy、Precision、Recall、</a:t>
            </a:r>
            <a:r>
              <a:rPr kumimoji="1" lang="en-US" altLang="zh-CN" sz="2000" dirty="0"/>
              <a:t>F1</a:t>
            </a:r>
            <a:r>
              <a:rPr kumimoji="1" lang="zh-CN" altLang="en-US" sz="2000" dirty="0"/>
              <a:t>、ROC、AUC)</a:t>
            </a:r>
            <a:endParaRPr kumimoji="1" lang="en-US" altLang="zh-CN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获取数据集 + 数据处理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3559175"/>
          </a:xfrm>
        </p:spPr>
        <p:txBody>
          <a:bodyPr>
            <a:normAutofit/>
          </a:bodyPr>
          <a:lstStyle/>
          <a:p>
            <a:pPr fontAlgn="auto">
              <a:lnSpc>
                <a:spcPct val="120000"/>
              </a:lnSpc>
            </a:pPr>
            <a:r>
              <a:rPr kumimoji="1" lang="zh-CN" altLang="en-US" b="1" dirty="0"/>
              <a:t>获取数据并进行数据预处理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zh-CN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CN" altLang="zh-CN" sz="2000" dirty="0"/>
              <a:t>加载数据：训练集和测试集</a:t>
            </a:r>
            <a:r>
              <a:rPr kumimoji="1" lang="zh-CN" altLang="en-US" sz="2000" dirty="0"/>
              <a:t>、停用词表</a:t>
            </a:r>
            <a:r>
              <a:rPr kumimoji="1" lang="zh-CN" altLang="zh-CN" sz="2000" dirty="0"/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CN" altLang="zh-CN" sz="2000" dirty="0"/>
              <a:t>文本清洗：分词、去停用词和去除非中文字符。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CN" altLang="zh-CN" sz="2000" dirty="0"/>
              <a:t>文本拼接：将标题和关键词结合，增强语义表达。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CN" altLang="zh-CN" sz="2000" dirty="0"/>
              <a:t>使用BERT分词器：生成模型输入格式（input_ids 和 attention_mask</a:t>
            </a:r>
            <a:r>
              <a:rPr kumimoji="1" lang="zh-CN" altLang="en-US" sz="2000" dirty="0"/>
              <a:t>）</a:t>
            </a:r>
            <a:endParaRPr kumimoji="1" lang="zh-CN" altLang="zh-CN" sz="2000" dirty="0"/>
          </a:p>
          <a:p>
            <a:pPr fontAlgn="auto">
              <a:lnSpc>
                <a:spcPct val="120000"/>
              </a:lnSpc>
            </a:pPr>
            <a:endParaRPr kumimoji="1" lang="zh-CN" altLang="en-US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获取数据集 + 数据处理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47184" y="1613233"/>
            <a:ext cx="3114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加载停用词表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47184" y="3148449"/>
            <a:ext cx="3037702" cy="368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读取数据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CBBCD4E-BB13-75E7-8115-FFCEBD327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77" y="1981533"/>
            <a:ext cx="3923983" cy="11669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10533AF-3773-7BB3-5929-96BCC9BD7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77" y="3527861"/>
            <a:ext cx="5834702" cy="209244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09F2751-CD67-9697-19FF-BE8F3C27907F}"/>
              </a:ext>
            </a:extLst>
          </p:cNvPr>
          <p:cNvSpPr txBox="1"/>
          <p:nvPr/>
        </p:nvSpPr>
        <p:spPr>
          <a:xfrm>
            <a:off x="747184" y="5620306"/>
            <a:ext cx="3114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标签编码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E727366-3757-7E08-2AE8-48E514BBF9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095"/>
          <a:stretch/>
        </p:blipFill>
        <p:spPr>
          <a:xfrm>
            <a:off x="810577" y="5938369"/>
            <a:ext cx="4374410" cy="6973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84CCF-6B0D-B478-48E9-F1CD2D1A9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163474-695C-AD73-A2EA-7E8381816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获取数据集 + 数据处理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0F0385-BD65-B052-F3D3-234A0B49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E11C06-EEDB-EF40-A9E8-4AE85881CA02}"/>
              </a:ext>
            </a:extLst>
          </p:cNvPr>
          <p:cNvSpPr txBox="1"/>
          <p:nvPr/>
        </p:nvSpPr>
        <p:spPr>
          <a:xfrm>
            <a:off x="628650" y="1690689"/>
            <a:ext cx="4556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数据预处理：分词、去除停用词和非中文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8AB8517-2A29-AA9F-FB90-5D9788CB5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80" y="2060021"/>
            <a:ext cx="3677919" cy="51470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393AF90-FF03-173B-9EAD-E500369E8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79" y="2574729"/>
            <a:ext cx="6454987" cy="424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61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796D91-C0FA-8441-0C08-E9A9EB9A1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模型构建与训练</a:t>
            </a:r>
            <a:br>
              <a:rPr kumimoji="1" lang="en-US" altLang="zh-CN" dirty="0"/>
            </a:br>
            <a:r>
              <a:rPr kumimoji="1" lang="zh-CN" altLang="en-US" sz="3200" dirty="0"/>
              <a:t>机器学习算法的缺陷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779CAF-5A22-31F6-F877-5C9106DA4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初期使用的传统机器学习方法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特征表达能力有限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：传统算法依赖手工提取特征，难以捕捉文本深层语义。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模型复杂性不足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：未能充分利用大规模数据中的潜在信息。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对高维数据的处理能力较弱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：在处理稀疏文本特征时表现不理想。</a:t>
            </a:r>
          </a:p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644F43-E51A-7478-2095-47CD6315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55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6EA23-E6B2-B0D2-7C52-3806B8653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4E235-7235-6831-F4A5-7E6EACC52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785" y="320676"/>
            <a:ext cx="7886700" cy="1325563"/>
          </a:xfrm>
        </p:spPr>
        <p:txBody>
          <a:bodyPr>
            <a:normAutofit/>
          </a:bodyPr>
          <a:lstStyle/>
          <a:p>
            <a:pPr algn="l"/>
            <a:r>
              <a:rPr kumimoji="1" lang="zh-CN" altLang="en-US" dirty="0"/>
              <a:t>模型构建与训练</a:t>
            </a:r>
            <a:br>
              <a:rPr kumimoji="1" lang="zh-CN" altLang="en-US" dirty="0"/>
            </a:br>
            <a:r>
              <a:rPr kumimoji="1" lang="zh-CN" altLang="en-US" sz="3200" dirty="0"/>
              <a:t>模型架构</a:t>
            </a:r>
            <a:endParaRPr kumimoji="1" lang="en-US" altLang="zh-CN" sz="32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E73433-D689-CD64-4E25-86E1FE23A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281C80-546A-2EC3-7CBF-64A162713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893" y="1825624"/>
            <a:ext cx="8419253" cy="489585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BERT</a:t>
            </a:r>
            <a:r>
              <a:rPr lang="zh-CN" altLang="en-US" dirty="0"/>
              <a:t>是基于</a:t>
            </a:r>
            <a:r>
              <a:rPr lang="en-US" altLang="zh-CN" dirty="0"/>
              <a:t>Transformer</a:t>
            </a:r>
            <a:r>
              <a:rPr lang="zh-CN" altLang="en-US" dirty="0"/>
              <a:t>的深度学习模型，能同时建模句子中左右两个方向的上下文。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主要特点：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双向建模</a:t>
            </a:r>
            <a:r>
              <a:rPr lang="zh-CN" altLang="en-US" dirty="0"/>
              <a:t>：捕获句子中每个单词的全局语义信息。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预训练</a:t>
            </a:r>
            <a:r>
              <a:rPr lang="en-US" altLang="zh-CN" b="1" dirty="0"/>
              <a:t>+</a:t>
            </a:r>
            <a:r>
              <a:rPr lang="zh-CN" altLang="en-US" b="1" dirty="0"/>
              <a:t>微调</a:t>
            </a:r>
            <a:r>
              <a:rPr lang="zh-CN" altLang="en-US" dirty="0"/>
              <a:t>：通过大规模语料预训练后，在下游任务中进行微调。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多任务适配</a:t>
            </a:r>
            <a:r>
              <a:rPr lang="zh-CN" altLang="en-US" dirty="0"/>
              <a:t>：支持文本分类、问答、命名实体识别等任务。</a:t>
            </a:r>
          </a:p>
          <a:p>
            <a:r>
              <a:rPr lang="zh-CN" altLang="en-US" sz="2800" b="1" dirty="0">
                <a:latin typeface="Arial" panose="020B0604020202020204" pitchFamily="34" charset="0"/>
              </a:rPr>
              <a:t>适配分类任务：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r>
              <a:rPr lang="zh-CN" altLang="en-US" sz="2800" dirty="0">
                <a:latin typeface="Arial" panose="020B0604020202020204" pitchFamily="34" charset="0"/>
              </a:rPr>
              <a:t>添加一个</a:t>
            </a:r>
            <a:r>
              <a:rPr lang="zh-CN" altLang="en-US" sz="2800" b="1" dirty="0">
                <a:latin typeface="Arial" panose="020B0604020202020204" pitchFamily="34" charset="0"/>
              </a:rPr>
              <a:t>全连接层</a:t>
            </a:r>
            <a:r>
              <a:rPr lang="zh-CN" altLang="en-US" sz="2800" dirty="0">
                <a:latin typeface="Arial" panose="020B0604020202020204" pitchFamily="34" charset="0"/>
              </a:rPr>
              <a:t>，将</a:t>
            </a:r>
            <a:r>
              <a:rPr lang="en-US" altLang="zh-CN" sz="2800" dirty="0">
                <a:latin typeface="Arial" panose="020B0604020202020204" pitchFamily="34" charset="0"/>
              </a:rPr>
              <a:t>[CLS]</a:t>
            </a:r>
            <a:r>
              <a:rPr lang="zh-CN" altLang="en-US" sz="2800" dirty="0">
                <a:latin typeface="Arial" panose="020B0604020202020204" pitchFamily="34" charset="0"/>
              </a:rPr>
              <a:t>向量映射到分类空间。</a:t>
            </a:r>
          </a:p>
        </p:txBody>
      </p:sp>
    </p:spTree>
    <p:extLst>
      <p:ext uri="{BB962C8B-B14F-4D97-AF65-F5344CB8AC3E}">
        <p14:creationId xmlns:p14="http://schemas.microsoft.com/office/powerpoint/2010/main" val="426430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9C242-2A47-9D7E-210C-B7FFCA869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模型构建与训练</a:t>
            </a:r>
            <a:br>
              <a:rPr kumimoji="1" lang="zh-CN" altLang="en-US" dirty="0"/>
            </a:br>
            <a:r>
              <a:rPr kumimoji="1" lang="zh-CN" altLang="en-US" sz="3200" dirty="0"/>
              <a:t>模型架构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AD8485-1B8E-316F-AEB0-AAAF13E24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2400" b="1" dirty="0"/>
              <a:t>输入层</a:t>
            </a:r>
            <a:r>
              <a:rPr lang="zh-CN" altLang="en-US" sz="2400" dirty="0"/>
              <a:t>：输入文本分为</a:t>
            </a:r>
            <a:r>
              <a:rPr lang="en-US" altLang="zh-CN" sz="2400" dirty="0"/>
              <a:t>Token</a:t>
            </a:r>
            <a:r>
              <a:rPr lang="zh-CN" altLang="en-US" sz="2400" dirty="0"/>
              <a:t>，每个</a:t>
            </a:r>
            <a:r>
              <a:rPr lang="en-US" altLang="zh-CN" sz="2400" dirty="0"/>
              <a:t>Token</a:t>
            </a:r>
            <a:r>
              <a:rPr lang="zh-CN" altLang="en-US" sz="2400" dirty="0"/>
              <a:t>包含三种嵌入：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b="1" dirty="0"/>
              <a:t>Token Embeddings</a:t>
            </a:r>
            <a:r>
              <a:rPr lang="zh-CN" altLang="en-US" sz="2400" dirty="0"/>
              <a:t>：将分词后的</a:t>
            </a:r>
            <a:r>
              <a:rPr lang="en-US" altLang="zh-CN" sz="2400" dirty="0"/>
              <a:t>Token</a:t>
            </a:r>
            <a:r>
              <a:rPr lang="zh-CN" altLang="en-US" sz="2400" dirty="0"/>
              <a:t>映射为高维向量，通过查找预训练的嵌入矩阵获得固定大小的表示。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500" b="1" dirty="0"/>
              <a:t>Segment Embeddings</a:t>
            </a:r>
            <a:r>
              <a:rPr lang="zh-CN" altLang="en-US" sz="2400" dirty="0"/>
              <a:t>：区分输入中的句子，为每个</a:t>
            </a:r>
            <a:r>
              <a:rPr lang="en-US" altLang="zh-CN" sz="2400" dirty="0"/>
              <a:t>Token</a:t>
            </a:r>
            <a:r>
              <a:rPr lang="zh-CN" altLang="en-US" sz="2400" dirty="0"/>
              <a:t>添加对应的嵌入向量。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500" b="1" dirty="0"/>
              <a:t>Position Embeddings</a:t>
            </a:r>
            <a:r>
              <a:rPr lang="zh-CN" altLang="en-US" sz="2400" dirty="0"/>
              <a:t>：为每个</a:t>
            </a:r>
            <a:r>
              <a:rPr lang="en-US" altLang="zh-CN" sz="2400" dirty="0"/>
              <a:t>Token</a:t>
            </a:r>
            <a:r>
              <a:rPr lang="zh-CN" altLang="en-US" sz="2400" dirty="0"/>
              <a:t>提供位置信息，通过训练得到独特的嵌入向量。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500" b="1" dirty="0"/>
              <a:t>特殊符号</a:t>
            </a:r>
            <a:r>
              <a:rPr lang="zh-CN" altLang="en-US" sz="2400" dirty="0"/>
              <a:t>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[CLS]</a:t>
            </a:r>
            <a:r>
              <a:rPr lang="zh-CN" altLang="en-US" dirty="0"/>
              <a:t>：表示句子开始，用于分类任务。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[SEP]</a:t>
            </a:r>
            <a:r>
              <a:rPr lang="zh-CN" altLang="en-US" dirty="0"/>
              <a:t>：分隔句子或标志结束。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[PAD]</a:t>
            </a:r>
            <a:r>
              <a:rPr lang="zh-CN" altLang="en-US" dirty="0"/>
              <a:t>：填充标志，用于对齐输入序列的长度，确保批量处理时所有序列长度一致。</a:t>
            </a:r>
          </a:p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90A704-9BFC-8EE7-4C57-F7D1922B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969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A379CA-BE64-A742-030D-AE9830BB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模型构建与训练</a:t>
            </a:r>
            <a:br>
              <a:rPr kumimoji="1" lang="zh-CN" altLang="en-US" dirty="0"/>
            </a:br>
            <a:r>
              <a:rPr kumimoji="1" lang="zh-CN" altLang="en-US" sz="3200" dirty="0"/>
              <a:t>模型架构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6533CE-FC26-3929-E62E-717274BA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5E57F53-3660-CF25-3CE1-B61FD464FD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690689"/>
            <a:ext cx="812249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zh-CN" altLang="zh-CN" sz="24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sz="2400" b="1" dirty="0"/>
              <a:t>核心</a:t>
            </a:r>
            <a:r>
              <a:rPr lang="zh-CN" altLang="en-US" sz="2400" b="1" dirty="0"/>
              <a:t>：</a:t>
            </a:r>
            <a:r>
              <a:rPr lang="zh-CN" altLang="zh-CN" sz="2400" dirty="0"/>
              <a:t>堆叠的多层Transformer编码器，包括以下模块：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 b="1" dirty="0"/>
              <a:t>自注意力机制：</a:t>
            </a:r>
            <a:r>
              <a:rPr lang="zh-CN" altLang="zh-CN" sz="2400" dirty="0"/>
              <a:t>计算Token之间的注意力权重，关注不同位置的Token，提取序列依赖关系。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 b="1" dirty="0"/>
              <a:t>前馈神经网络：</a:t>
            </a:r>
            <a:r>
              <a:rPr lang="zh-CN" altLang="zh-CN" sz="2400" dirty="0"/>
              <a:t>对自注意力输出进行非线性变换，提取高级特征。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 b="1" dirty="0"/>
              <a:t>残差连接和层归一化：</a:t>
            </a:r>
            <a:r>
              <a:rPr lang="zh-CN" altLang="zh-CN" sz="2400" dirty="0"/>
              <a:t>提高训练稳定性，缓解梯度消失和爆炸问题。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zh-CN" sz="2400" b="1" dirty="0"/>
              <a:t>BERT-Base：</a:t>
            </a:r>
            <a:r>
              <a:rPr lang="zh-CN" altLang="zh-CN" sz="2400" dirty="0"/>
              <a:t>12层编码器，参数量110M。</a:t>
            </a:r>
            <a:endParaRPr lang="en-US" altLang="zh-CN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CN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723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2785" y="320676"/>
            <a:ext cx="7886700" cy="1325563"/>
          </a:xfrm>
        </p:spPr>
        <p:txBody>
          <a:bodyPr>
            <a:normAutofit/>
          </a:bodyPr>
          <a:lstStyle/>
          <a:p>
            <a:pPr algn="l"/>
            <a:r>
              <a:rPr kumimoji="1" lang="zh-CN" altLang="en-US" dirty="0"/>
              <a:t>模型构建与训练</a:t>
            </a:r>
            <a:br>
              <a:rPr kumimoji="1" lang="zh-CN" altLang="en-US" dirty="0"/>
            </a:br>
            <a:r>
              <a:rPr kumimoji="1" lang="zh-CN" altLang="en-US" sz="3200" dirty="0"/>
              <a:t>模型架构</a:t>
            </a:r>
            <a:endParaRPr kumimoji="1" lang="en-US" altLang="zh-CN" sz="3200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1026" name="Picture 2" descr="图片">
            <a:extLst>
              <a:ext uri="{FF2B5EF4-FFF2-40B4-BE49-F238E27FC236}">
                <a16:creationId xmlns:a16="http://schemas.microsoft.com/office/drawing/2014/main" id="{E53F94B8-7A53-E118-175F-0700192E9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793" y="1825625"/>
            <a:ext cx="6808414" cy="4293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84DD5-13B5-EF4C-E05C-FDC80DDA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Transformer</a:t>
            </a:r>
            <a:r>
              <a:rPr lang="zh-CN" altLang="en-US" dirty="0"/>
              <a:t>架构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696C63-3535-CEEA-2F67-64B31D16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DF4F-D468-4E54-A555-8CBC817F80E7}" type="datetime1">
              <a:rPr lang="zh-CN" altLang="en-US" smtClean="0"/>
              <a:t>2024/12/20</a:t>
            </a:fld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9019FF-76AD-A7F2-FF5B-58E39A88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F8C89475-614B-76D3-3BC5-45F03F15461A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56" name="Picture 8" descr="在这里插入图片描述">
            <a:extLst>
              <a:ext uri="{FF2B5EF4-FFF2-40B4-BE49-F238E27FC236}">
                <a16:creationId xmlns:a16="http://schemas.microsoft.com/office/drawing/2014/main" id="{35BDA068-DEF0-34CA-5E2C-B2849C56B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67" y="1825624"/>
            <a:ext cx="7339381" cy="4432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155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B9BB21-EDCC-E40B-575C-C8E3E062B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模型构建与训练</a:t>
            </a:r>
            <a:br>
              <a:rPr kumimoji="1" lang="zh-CN" altLang="en-US" dirty="0"/>
            </a:br>
            <a:r>
              <a:rPr kumimoji="1" lang="zh-CN" altLang="en-US" sz="3200" dirty="0"/>
              <a:t>模型架构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B5ADDE-E17D-2F3B-3AA0-20D1046A1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FD3EA45-D1C6-A263-F4F5-F9407445FB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949954"/>
            <a:ext cx="806831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输出：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[CLS]向量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：作为整段输入的全局语义表示。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全连接层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在预训练的BERT模型顶部添加了一个全连接分类层。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输入：BERT输出的[CLS]向量（维度为768）。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输出：分类任务的类别数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Softmax层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将全连接层的输出转化为每个类别的概率分布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134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29FA5-1021-DB6D-8AD0-393BA077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模型构建与训练</a:t>
            </a:r>
            <a:br>
              <a:rPr kumimoji="1" lang="zh-CN" altLang="en-US" dirty="0"/>
            </a:br>
            <a:r>
              <a:rPr kumimoji="1" lang="zh-CN" altLang="en-US" sz="3200" dirty="0"/>
              <a:t>训练过程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D12CEA-57A4-A5D5-ADE9-331644FB1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59CFF10-38C0-DA97-D327-547ECAB616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2120" y="1905506"/>
            <a:ext cx="801975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zh-CN" altLang="en-US" sz="2400" b="1" dirty="0">
                <a:latin typeface="Arial" panose="020B0604020202020204" pitchFamily="34" charset="0"/>
              </a:rPr>
              <a:t>预训练任务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：根据任务不同，输出结果会有所变化。预训练阶段包含两种任务：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MLM（Masked Language Model）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：预测被随机遮盖Token的概率分布，通过Softmax层计算输出。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NSP（Next Sentence Prediction）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：判断两句是否连续。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96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7CF67-3EF9-E7F5-8E37-1804F1305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模型构建与训练</a:t>
            </a:r>
            <a:br>
              <a:rPr kumimoji="1" lang="en-US" altLang="zh-CN" dirty="0"/>
            </a:br>
            <a:r>
              <a:rPr kumimoji="1" lang="zh-CN" altLang="en-US" sz="3200" dirty="0"/>
              <a:t>训练过程（微调）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7BE180-25DC-80E8-B539-F8E14794B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47851"/>
            <a:ext cx="8209279" cy="4351338"/>
          </a:xfrm>
        </p:spPr>
        <p:txBody>
          <a:bodyPr>
            <a:normAutofit fontScale="925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2800" dirty="0">
                <a:latin typeface="Arial" panose="020B0604020202020204" pitchFamily="34" charset="0"/>
              </a:rPr>
              <a:t>在每个epoch中，对训练集批量迭代，具体步骤如下：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批量加载数据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：使用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train_loader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逐批获取训练数据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模型前向传播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：将批次数据输入模型，计算预测值和对应的损失</a:t>
            </a:r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zh-CN" altLang="zh-CN" sz="2800" dirty="0">
                <a:latin typeface="Arial" panose="020B0604020202020204" pitchFamily="34" charset="0"/>
              </a:rPr>
              <a:t>交叉熵损失函数</a:t>
            </a:r>
            <a:r>
              <a:rPr lang="zh-CN" altLang="en-US" dirty="0">
                <a:latin typeface="Arial" panose="020B0604020202020204" pitchFamily="34" charset="0"/>
              </a:rPr>
              <a:t>）。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梯度清零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清除上一次计算的梯度，避免影响当前更新。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反向传播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计算损失相对于模型参数的梯度。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参数更新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根据梯度更新模型参数。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记录训练损失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：累计每批次的损失，便于后续评估训练过程的效果。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CF057F-1A68-A028-251C-888F2917D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643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2785" y="320676"/>
            <a:ext cx="7886700" cy="1325563"/>
          </a:xfrm>
        </p:spPr>
        <p:txBody>
          <a:bodyPr>
            <a:normAutofit/>
          </a:bodyPr>
          <a:lstStyle/>
          <a:p>
            <a:pPr algn="l"/>
            <a:r>
              <a:rPr kumimoji="1" lang="zh-CN" altLang="en-US" dirty="0"/>
              <a:t>模型构建与训练</a:t>
            </a:r>
            <a:br>
              <a:rPr kumimoji="1" lang="en-US" altLang="zh-CN" dirty="0"/>
            </a:br>
            <a:r>
              <a:rPr kumimoji="1" lang="zh-CN" altLang="en-US" sz="3200" dirty="0"/>
              <a:t>训练过程</a:t>
            </a:r>
            <a:endParaRPr kumimoji="1" lang="en-US" altLang="zh-CN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9760" y="1646555"/>
            <a:ext cx="8224520" cy="5156835"/>
          </a:xfrm>
        </p:spPr>
        <p:txBody>
          <a:bodyPr>
            <a:normAutofit/>
          </a:bodyPr>
          <a:lstStyle/>
          <a:p>
            <a:pPr fontAlgn="auto">
              <a:lnSpc>
                <a:spcPct val="120000"/>
              </a:lnSpc>
            </a:pPr>
            <a:r>
              <a:rPr kumimoji="1" lang="zh-CN" altLang="en-US" sz="2000" b="1" dirty="0"/>
              <a:t>代码实现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0DC4A2-C632-05FA-1204-9F20A5ED2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33" y="2120574"/>
            <a:ext cx="5298687" cy="423577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模型优化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60E9C7-3D77-9602-806C-7C22FA5353E4}"/>
              </a:ext>
            </a:extLst>
          </p:cNvPr>
          <p:cNvSpPr txBox="1"/>
          <p:nvPr/>
        </p:nvSpPr>
        <p:spPr>
          <a:xfrm>
            <a:off x="535094" y="1910771"/>
            <a:ext cx="80661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en-US" altLang="zh-CN" sz="2800" b="1" dirty="0" err="1"/>
              <a:t>AdamW</a:t>
            </a:r>
            <a:r>
              <a:rPr kumimoji="1" lang="zh-CN" altLang="en-US" sz="2800" b="1" dirty="0"/>
              <a:t>优化器：</a:t>
            </a:r>
            <a:endParaRPr kumimoji="1" lang="zh-CN" altLang="zh-CN" sz="2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Adam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使用一阶动量（梯度均值）和二阶动量（梯度平方均值）动态调整学习率。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更新公式结合动量和学习率校正，适应性强，收敛快。 </a:t>
            </a:r>
            <a:endParaRPr kumimoji="1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en-US" altLang="zh-CN" sz="2000" dirty="0" err="1"/>
              <a:t>AdamW</a:t>
            </a:r>
            <a:r>
              <a:rPr kumimoji="1" lang="zh-CN" altLang="en-US" sz="2000" dirty="0"/>
              <a:t>改进</a:t>
            </a:r>
            <a:r>
              <a:rPr kumimoji="1" lang="en-US" altLang="zh-CN" sz="2000" dirty="0"/>
              <a:t>Adam</a:t>
            </a:r>
            <a:r>
              <a:rPr kumimoji="1" lang="zh-CN" altLang="en-US" sz="2000" dirty="0"/>
              <a:t>算法，</a:t>
            </a:r>
            <a:r>
              <a:rPr lang="zh-CN" altLang="en-US" sz="2000" dirty="0"/>
              <a:t>将权重衰减从梯度更新中分离，对权重直接施加衰减</a:t>
            </a:r>
            <a:r>
              <a:rPr kumimoji="1" lang="zh-CN" altLang="en-US" sz="2000" dirty="0"/>
              <a:t>，防止过拟合，提高模型泛化能力。</a:t>
            </a:r>
            <a:endParaRPr kumimoji="1" lang="en-US" altLang="zh-CN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1" lang="zh-CN" altLang="en-US" sz="2000" dirty="0"/>
          </a:p>
          <a:p>
            <a:pPr indent="-342900">
              <a:buFont typeface="Arial" panose="020B0604020202020204" pitchFamily="34" charset="0"/>
              <a:buChar char="•"/>
            </a:pPr>
            <a:r>
              <a:rPr kumimoji="1" lang="zh-CN" altLang="en-US" sz="2800" b="1" dirty="0"/>
              <a:t>早停策略：</a:t>
            </a:r>
            <a:endParaRPr kumimoji="1" lang="en-US" altLang="zh-CN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kumimoji="1" lang="zh-CN" altLang="en-US" sz="2000" dirty="0"/>
              <a:t>监控验证集损失，当损失多次未下降时停止训练，节约训练时间，避免过拟合。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auto">
              <a:lnSpc>
                <a:spcPct val="120000"/>
              </a:lnSpc>
            </a:pPr>
            <a:r>
              <a:rPr kumimoji="1" lang="zh-CN" altLang="en-US" b="1" dirty="0"/>
              <a:t>原理介绍</a:t>
            </a:r>
            <a:endParaRPr kumimoji="1" lang="zh-CN" altLang="en-US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模型评估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588215" y="2495550"/>
            <a:ext cx="7927076" cy="3782018"/>
            <a:chOff x="923" y="4143"/>
            <a:chExt cx="13135" cy="6561"/>
          </a:xfrm>
        </p:grpSpPr>
        <p:pic>
          <p:nvPicPr>
            <p:cNvPr id="2" name="图片 1" descr="accuracy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" y="4143"/>
              <a:ext cx="6157" cy="2928"/>
            </a:xfrm>
            <a:prstGeom prst="rect">
              <a:avLst/>
            </a:prstGeom>
          </p:spPr>
        </p:pic>
        <p:pic>
          <p:nvPicPr>
            <p:cNvPr id="4" name="图片 3" descr="precisio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25" y="4143"/>
              <a:ext cx="6233" cy="2927"/>
            </a:xfrm>
            <a:prstGeom prst="rect">
              <a:avLst/>
            </a:prstGeom>
          </p:spPr>
        </p:pic>
        <p:pic>
          <p:nvPicPr>
            <p:cNvPr id="7" name="图片 6" descr="recall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3" y="7489"/>
              <a:ext cx="6293" cy="3215"/>
            </a:xfrm>
            <a:prstGeom prst="rect">
              <a:avLst/>
            </a:prstGeom>
          </p:spPr>
        </p:pic>
      </p:grpSp>
      <p:pic>
        <p:nvPicPr>
          <p:cNvPr id="9" name="图片 8" descr="F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8075" y="4420870"/>
            <a:ext cx="3332480" cy="1917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auto">
              <a:lnSpc>
                <a:spcPct val="120000"/>
              </a:lnSpc>
            </a:pPr>
            <a:r>
              <a:rPr kumimoji="1" lang="zh-CN" altLang="en-US" b="1" dirty="0"/>
              <a:t>原理介绍</a:t>
            </a:r>
            <a:endParaRPr kumimoji="1" lang="zh-CN" altLang="en-US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模型评估</a:t>
            </a:r>
          </a:p>
        </p:txBody>
      </p:sp>
      <p:pic>
        <p:nvPicPr>
          <p:cNvPr id="9" name="图片 8" descr="RO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35" y="2798445"/>
            <a:ext cx="4166235" cy="2405380"/>
          </a:xfrm>
          <a:prstGeom prst="rect">
            <a:avLst/>
          </a:prstGeom>
        </p:spPr>
      </p:pic>
      <p:pic>
        <p:nvPicPr>
          <p:cNvPr id="10" name="图片 9" descr="AU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390" y="2846705"/>
            <a:ext cx="5184775" cy="23088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auto">
              <a:lnSpc>
                <a:spcPct val="120000"/>
              </a:lnSpc>
            </a:pPr>
            <a:r>
              <a:rPr kumimoji="1" lang="zh-CN" altLang="en-US" sz="2400" b="1" dirty="0"/>
              <a:t>实现方法：</a:t>
            </a:r>
            <a:endParaRPr kumimoji="1" lang="zh-CN" altLang="en-US" sz="2000" dirty="0"/>
          </a:p>
          <a:p>
            <a:pPr>
              <a:lnSpc>
                <a:spcPct val="120000"/>
              </a:lnSpc>
            </a:pPr>
            <a:r>
              <a:rPr kumimoji="1" lang="zh-CN" altLang="en-US" sz="2000" dirty="0"/>
              <a:t>根据真实值、预测值，计算</a:t>
            </a:r>
            <a:r>
              <a:rPr kumimoji="1" lang="en-US" altLang="zh-CN" sz="2000" dirty="0"/>
              <a:t>TP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FP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FN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TN</a:t>
            </a:r>
            <a:r>
              <a:rPr kumimoji="1" lang="zh-CN" altLang="en-US" sz="2000" dirty="0"/>
              <a:t>，代入公式计算（代码调用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sklearn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和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matplotlib</a:t>
            </a:r>
            <a:r>
              <a:rPr kumimoji="1" lang="zh-CN" altLang="en-US" sz="2000" dirty="0"/>
              <a:t>实现）。</a:t>
            </a:r>
          </a:p>
          <a:p>
            <a:pPr fontAlgn="auto">
              <a:lnSpc>
                <a:spcPct val="120000"/>
              </a:lnSpc>
            </a:pPr>
            <a:r>
              <a:rPr kumimoji="1" lang="zh-CN" altLang="en-US" sz="2000" dirty="0"/>
              <a:t>绘图实现可视化</a:t>
            </a:r>
          </a:p>
          <a:p>
            <a:pPr fontAlgn="auto">
              <a:lnSpc>
                <a:spcPct val="120000"/>
              </a:lnSpc>
            </a:pPr>
            <a:r>
              <a:rPr kumimoji="1" lang="zh-CN" altLang="en-US" sz="2400" b="1" dirty="0"/>
              <a:t>评估结果：</a:t>
            </a:r>
            <a:endParaRPr lang="en-US" altLang="zh-CN" sz="2000" dirty="0"/>
          </a:p>
          <a:p>
            <a:r>
              <a:rPr lang="zh-CN" altLang="en-US" sz="2000" dirty="0"/>
              <a:t>Accuracy: 0.9011</a:t>
            </a:r>
            <a:endParaRPr lang="en-US" altLang="zh-CN" sz="2000" dirty="0"/>
          </a:p>
          <a:p>
            <a:r>
              <a:rPr lang="zh-CN" altLang="en-US" sz="2000" dirty="0"/>
              <a:t>Precision: 0.9005</a:t>
            </a:r>
            <a:endParaRPr lang="en-US" altLang="zh-CN" sz="2000" dirty="0"/>
          </a:p>
          <a:p>
            <a:r>
              <a:rPr lang="zh-CN" altLang="en-US" sz="2000" dirty="0"/>
              <a:t>Recall: 0.9011</a:t>
            </a:r>
            <a:endParaRPr lang="en-US" altLang="zh-CN" sz="2000" dirty="0"/>
          </a:p>
          <a:p>
            <a:r>
              <a:rPr lang="zh-CN" altLang="en-US" sz="2000" dirty="0"/>
              <a:t>F1 Score: 0.9005</a:t>
            </a:r>
          </a:p>
          <a:p>
            <a:pPr fontAlgn="auto">
              <a:lnSpc>
                <a:spcPct val="120000"/>
              </a:lnSpc>
            </a:pPr>
            <a:endParaRPr kumimoji="1" lang="zh-CN" altLang="en-US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模型评估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E3472B-2F66-DBEA-BDD3-72A847FC5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E12CA10-E3C6-0C2F-AD41-2B5B89238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343563" cy="4012988"/>
          </a:xfrm>
        </p:spPr>
        <p:txBody>
          <a:bodyPr>
            <a:normAutofit fontScale="85000" lnSpcReduction="10000"/>
          </a:bodyPr>
          <a:lstStyle/>
          <a:p>
            <a:pPr fontAlgn="auto">
              <a:lnSpc>
                <a:spcPct val="120000"/>
              </a:lnSpc>
            </a:pPr>
            <a:r>
              <a:rPr kumimoji="1" lang="zh-CN" altLang="en-US" b="1" dirty="0"/>
              <a:t>结果展示：</a:t>
            </a:r>
          </a:p>
          <a:p>
            <a:pPr fontAlgn="auto">
              <a:lnSpc>
                <a:spcPct val="120000"/>
              </a:lnSpc>
            </a:pPr>
            <a:r>
              <a:rPr kumimoji="1" lang="zh-CN" altLang="en-US" sz="2000" dirty="0"/>
              <a:t>准确率：准确率高达 </a:t>
            </a:r>
            <a:r>
              <a:rPr kumimoji="1" lang="en-US" altLang="zh-CN" sz="2000" dirty="0"/>
              <a:t>90.11%</a:t>
            </a:r>
            <a:r>
              <a:rPr kumimoji="1" lang="zh-CN" altLang="en-US" sz="2000" dirty="0"/>
              <a:t>，表明模型能够较准确地对大多数样本进行分类。准确率的高值反映了模型对整体分类任务的良好适配性。</a:t>
            </a:r>
            <a:endParaRPr kumimoji="1" lang="en-US" altLang="zh-CN" sz="2000" dirty="0"/>
          </a:p>
          <a:p>
            <a:pPr fontAlgn="auto">
              <a:lnSpc>
                <a:spcPct val="120000"/>
              </a:lnSpc>
            </a:pPr>
            <a:r>
              <a:rPr kumimoji="1" lang="zh-CN" altLang="en-US" sz="2000" dirty="0"/>
              <a:t>精确率：精确率与准确率相近，说明模型的预测结果中，误报率较低。这表明模型对正样本的预测可靠性较高。</a:t>
            </a:r>
            <a:endParaRPr kumimoji="1" lang="en-US" altLang="zh-CN" sz="2000" dirty="0"/>
          </a:p>
          <a:p>
            <a:pPr fontAlgn="auto">
              <a:lnSpc>
                <a:spcPct val="120000"/>
              </a:lnSpc>
            </a:pPr>
            <a:r>
              <a:rPr kumimoji="1" lang="zh-CN" altLang="en-US" sz="2000" dirty="0"/>
              <a:t>召回率：召回率高，表明模型在对各类别的正样本检测方面表现优秀。与精确率的相对均衡说明了模型在分类时没有明显的类别偏向，正负样本预测平衡性较好。</a:t>
            </a:r>
            <a:endParaRPr kumimoji="1" lang="en-US" altLang="zh-CN" sz="2000" dirty="0"/>
          </a:p>
          <a:p>
            <a:pPr fontAlgn="auto">
              <a:lnSpc>
                <a:spcPct val="120000"/>
              </a:lnSpc>
            </a:pPr>
            <a:r>
              <a:rPr kumimoji="1" lang="en-US" altLang="zh-CN" sz="2000" dirty="0"/>
              <a:t>F1 </a:t>
            </a:r>
            <a:r>
              <a:rPr kumimoji="1" lang="zh-CN" altLang="en-US" sz="2000" dirty="0"/>
              <a:t>分数：</a:t>
            </a:r>
            <a:r>
              <a:rPr kumimoji="1" lang="en-US" altLang="zh-CN" sz="2000" dirty="0"/>
              <a:t>F1-Score </a:t>
            </a:r>
            <a:r>
              <a:rPr kumimoji="1" lang="zh-CN" altLang="en-US" sz="2000" dirty="0"/>
              <a:t>较高，且与精确率和召回率接近，表明模型在正样本检测上实现了良好的平衡。高 </a:t>
            </a:r>
            <a:r>
              <a:rPr kumimoji="1" lang="en-US" altLang="zh-CN" sz="2000" dirty="0"/>
              <a:t>F1-Score </a:t>
            </a:r>
            <a:r>
              <a:rPr kumimoji="1" lang="zh-CN" altLang="en-US" sz="2000" dirty="0"/>
              <a:t>说明模型的误报率和漏报率均较低，综合性能优越。</a:t>
            </a:r>
            <a:endParaRPr kumimoji="1" lang="en-US" altLang="zh-CN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模型评估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716513"/>
            <a:ext cx="7886700" cy="4351338"/>
          </a:xfrm>
        </p:spPr>
        <p:txBody>
          <a:bodyPr>
            <a:normAutofit/>
          </a:bodyPr>
          <a:lstStyle/>
          <a:p>
            <a:pPr fontAlgn="auto">
              <a:lnSpc>
                <a:spcPct val="120000"/>
              </a:lnSpc>
            </a:pPr>
            <a:r>
              <a:rPr kumimoji="1" lang="zh-CN" altLang="en-US" sz="2400" b="1" dirty="0"/>
              <a:t>结果展示：</a:t>
            </a:r>
            <a:endParaRPr kumimoji="1" lang="zh-CN" altLang="en-US" sz="2000" dirty="0"/>
          </a:p>
          <a:p>
            <a:pPr>
              <a:lnSpc>
                <a:spcPct val="120000"/>
              </a:lnSpc>
            </a:pPr>
            <a:r>
              <a:rPr kumimoji="1" lang="en-US" altLang="zh-CN" sz="2000" dirty="0"/>
              <a:t>AUC </a:t>
            </a:r>
            <a:r>
              <a:rPr kumimoji="1" lang="zh-CN" altLang="en-US" sz="2000" dirty="0"/>
              <a:t>值：所有 </a:t>
            </a:r>
            <a:r>
              <a:rPr kumimoji="1" lang="en-US" altLang="zh-CN" sz="2000" dirty="0"/>
              <a:t>15 </a:t>
            </a:r>
            <a:r>
              <a:rPr kumimoji="1" lang="zh-CN" altLang="en-US" sz="2000" dirty="0"/>
              <a:t>个分类的 </a:t>
            </a:r>
            <a:r>
              <a:rPr kumimoji="1" lang="en-US" altLang="zh-CN" sz="2000" dirty="0"/>
              <a:t>AUC </a:t>
            </a:r>
            <a:r>
              <a:rPr kumimoji="1" lang="zh-CN" altLang="en-US" sz="2000" dirty="0"/>
              <a:t>均接近 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，说明模型在各类别上的分类能力都非常强。这一结果反映了模型对不同类别具有一致的区分能力，没有特定类别的明显弱势。</a:t>
            </a:r>
            <a:endParaRPr kumimoji="1" lang="en-US" altLang="zh-CN" sz="2000" dirty="0"/>
          </a:p>
          <a:p>
            <a:pPr fontAlgn="auto">
              <a:lnSpc>
                <a:spcPct val="120000"/>
              </a:lnSpc>
            </a:pPr>
            <a:endParaRPr kumimoji="1" lang="en-US" altLang="zh-CN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模型评估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9862D34-EE9A-FBA5-623F-A9258CEBDA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2" t="6792" r="7173" b="3626"/>
          <a:stretch/>
        </p:blipFill>
        <p:spPr>
          <a:xfrm>
            <a:off x="4743027" y="3206814"/>
            <a:ext cx="4158826" cy="345143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总结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6E4B784-AE28-8C19-E1E5-0660A5F4C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564" y="2197160"/>
            <a:ext cx="7879786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zh-CN" sz="2400" b="1" dirty="0"/>
              <a:t>主要成果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CN" altLang="zh-CN" sz="2000" dirty="0"/>
              <a:t>BERT模型在中文新闻分类任务中取得了9</a:t>
            </a:r>
            <a:r>
              <a:rPr kumimoji="1" lang="en-US" altLang="zh-CN" sz="2000" dirty="0"/>
              <a:t>0</a:t>
            </a:r>
            <a:r>
              <a:rPr kumimoji="1" lang="zh-CN" altLang="zh-CN" sz="2000" dirty="0"/>
              <a:t>%+的准确率，表现优越。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CN" altLang="zh-CN" sz="2000" dirty="0"/>
              <a:t>使用AdamW优化器和早停策略，有效防止过拟合。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CN" altLang="zh-CN" sz="2000" dirty="0"/>
              <a:t>数据预处理充分，提升了模型对文本语义的理解。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zh-CN" sz="2400" b="1" dirty="0"/>
              <a:t>不足与局限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CN" altLang="zh-CN" sz="2000" dirty="0"/>
              <a:t>模型训练时间长，硬件资源消耗较大。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CN" altLang="zh-CN" sz="2000" dirty="0"/>
              <a:t>数据集规模有限，文本多样性不足。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zh-CN" sz="2400" b="1" dirty="0"/>
              <a:t>未来改进方向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CN" altLang="zh-CN" sz="2000" dirty="0"/>
              <a:t>尝试更优预训练模型（如RoBERTa、ERNIE）。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CN" altLang="zh-CN" sz="2000" dirty="0"/>
              <a:t>引入数据增强技术</a:t>
            </a:r>
            <a:r>
              <a:rPr kumimoji="1" lang="zh-CN" altLang="en-US" sz="2000" dirty="0"/>
              <a:t>，增强模型的鲁棒性</a:t>
            </a:r>
            <a:r>
              <a:rPr kumimoji="1" lang="zh-CN" altLang="zh-CN" sz="2000" dirty="0"/>
              <a:t>。 </a:t>
            </a:r>
            <a:endParaRPr kumimoji="1" lang="en-US" altLang="zh-CN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1" lang="zh-CN" altLang="en-US" sz="2000" dirty="0"/>
              <a:t>针对更大规模的数据集，优化训练过程的效率。</a:t>
            </a:r>
            <a:r>
              <a:rPr kumimoji="1" lang="zh-CN" altLang="zh-CN" sz="2000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21995" y="882650"/>
            <a:ext cx="7699375" cy="1240790"/>
          </a:xfrm>
        </p:spPr>
        <p:txBody>
          <a:bodyPr>
            <a:norm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sz="4000" b="1" dirty="0">
                <a:latin typeface="+mj-ea"/>
              </a:rPr>
              <a:t>感谢观看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746A5-2B50-442B-9EB1-A59B0B113E35}" type="slidenum">
              <a:rPr lang="zh-CN" altLang="en-US" smtClean="0"/>
              <a:t>23</a:t>
            </a:fld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143000" y="4423093"/>
            <a:ext cx="6858000" cy="1655762"/>
          </a:xfrm>
        </p:spPr>
        <p:txBody>
          <a:bodyPr/>
          <a:lstStyle/>
          <a:p>
            <a:r>
              <a:rPr lang="zh-CN" altLang="en-US" dirty="0"/>
              <a:t>张耕嘉 </a:t>
            </a:r>
            <a:r>
              <a:rPr lang="en-US" altLang="zh-CN" dirty="0"/>
              <a:t>2313725</a:t>
            </a:r>
          </a:p>
        </p:txBody>
      </p:sp>
      <p:pic>
        <p:nvPicPr>
          <p:cNvPr id="17" name="Docer搜索：半想象现实   http://chn.docer.com/works/?userid=199927538" descr="南开大学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270" y="2569845"/>
            <a:ext cx="1521460" cy="15024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1283</TotalTime>
  <Words>1396</Words>
  <Application>Microsoft Office PowerPoint</Application>
  <PresentationFormat>全屏显示(4:3)</PresentationFormat>
  <Paragraphs>163</Paragraphs>
  <Slides>23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Arial Unicode MS</vt:lpstr>
      <vt:lpstr>等线</vt:lpstr>
      <vt:lpstr>Arial</vt:lpstr>
      <vt:lpstr>Calibri</vt:lpstr>
      <vt:lpstr>Calibri Light</vt:lpstr>
      <vt:lpstr>Office 主题​​</vt:lpstr>
      <vt:lpstr>Python语言程序设计 课程大作业讲解</vt:lpstr>
      <vt:lpstr>摘要</vt:lpstr>
      <vt:lpstr>获取数据集 + 数据处理</vt:lpstr>
      <vt:lpstr>获取数据集 + 数据处理</vt:lpstr>
      <vt:lpstr>获取数据集 + 数据处理</vt:lpstr>
      <vt:lpstr>模型构建与训练 机器学习算法的缺陷</vt:lpstr>
      <vt:lpstr>模型构建与训练 模型架构</vt:lpstr>
      <vt:lpstr>模型构建与训练 模型架构</vt:lpstr>
      <vt:lpstr>模型构建与训练 模型架构</vt:lpstr>
      <vt:lpstr>模型构建与训练 模型架构</vt:lpstr>
      <vt:lpstr>Transformer架构</vt:lpstr>
      <vt:lpstr>模型构建与训练 模型架构</vt:lpstr>
      <vt:lpstr>模型构建与训练 训练过程</vt:lpstr>
      <vt:lpstr>模型构建与训练 训练过程（微调）</vt:lpstr>
      <vt:lpstr>模型构建与训练 训练过程</vt:lpstr>
      <vt:lpstr>模型优化</vt:lpstr>
      <vt:lpstr>模型评估</vt:lpstr>
      <vt:lpstr>模型评估</vt:lpstr>
      <vt:lpstr>模型评估</vt:lpstr>
      <vt:lpstr>模型评估</vt:lpstr>
      <vt:lpstr>模型评估</vt:lpstr>
      <vt:lpstr>总结</vt:lpstr>
      <vt:lpstr>感谢观看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个人简介</dc:title>
  <dc:creator>Hzoprime</dc:creator>
  <cp:lastModifiedBy>耕嘉 张</cp:lastModifiedBy>
  <cp:revision>402</cp:revision>
  <dcterms:created xsi:type="dcterms:W3CDTF">2020-05-09T15:19:00Z</dcterms:created>
  <dcterms:modified xsi:type="dcterms:W3CDTF">2024-12-20T14:23:53Z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5B981473799244D3BF73B91830AD7019</vt:lpwstr>
  </property>
  <property fmtid="{D5CDD505-2E9C-101B-9397-08002B2CF9AE}" pid="3" name="KSOProductBuildVer">
    <vt:lpwstr>2052-11.1.0.10667</vt:lpwstr>
  </property>
</Properties>
</file>